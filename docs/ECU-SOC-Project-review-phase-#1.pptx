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9"/>
  </p:notesMasterIdLst>
  <p:sldIdLst>
    <p:sldId id="256" r:id="rId2"/>
    <p:sldId id="31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08" r:id="rId17"/>
    <p:sldId id="270" r:id="rId18"/>
    <p:sldId id="271" r:id="rId19"/>
    <p:sldId id="272" r:id="rId20"/>
    <p:sldId id="316" r:id="rId21"/>
    <p:sldId id="273" r:id="rId22"/>
    <p:sldId id="274" r:id="rId23"/>
    <p:sldId id="275" r:id="rId24"/>
    <p:sldId id="317" r:id="rId25"/>
    <p:sldId id="276" r:id="rId26"/>
    <p:sldId id="277" r:id="rId27"/>
    <p:sldId id="278" r:id="rId28"/>
    <p:sldId id="318" r:id="rId29"/>
    <p:sldId id="279" r:id="rId30"/>
    <p:sldId id="280" r:id="rId31"/>
    <p:sldId id="319" r:id="rId32"/>
    <p:sldId id="281" r:id="rId33"/>
    <p:sldId id="282" r:id="rId34"/>
    <p:sldId id="320" r:id="rId35"/>
    <p:sldId id="283" r:id="rId36"/>
    <p:sldId id="284" r:id="rId37"/>
    <p:sldId id="321" r:id="rId38"/>
    <p:sldId id="285" r:id="rId39"/>
    <p:sldId id="322" r:id="rId40"/>
    <p:sldId id="309" r:id="rId41"/>
    <p:sldId id="323" r:id="rId42"/>
    <p:sldId id="287" r:id="rId43"/>
    <p:sldId id="288" r:id="rId44"/>
    <p:sldId id="289" r:id="rId45"/>
    <p:sldId id="290" r:id="rId46"/>
    <p:sldId id="324" r:id="rId47"/>
    <p:sldId id="291" r:id="rId48"/>
    <p:sldId id="292" r:id="rId49"/>
    <p:sldId id="310" r:id="rId50"/>
    <p:sldId id="293" r:id="rId51"/>
    <p:sldId id="294" r:id="rId52"/>
    <p:sldId id="311" r:id="rId53"/>
    <p:sldId id="295" r:id="rId54"/>
    <p:sldId id="296" r:id="rId55"/>
    <p:sldId id="297" r:id="rId56"/>
    <p:sldId id="312" r:id="rId57"/>
    <p:sldId id="298" r:id="rId58"/>
    <p:sldId id="299" r:id="rId59"/>
    <p:sldId id="300" r:id="rId60"/>
    <p:sldId id="301" r:id="rId61"/>
    <p:sldId id="313" r:id="rId62"/>
    <p:sldId id="302" r:id="rId63"/>
    <p:sldId id="303" r:id="rId64"/>
    <p:sldId id="304" r:id="rId65"/>
    <p:sldId id="305" r:id="rId66"/>
    <p:sldId id="306" r:id="rId67"/>
    <p:sldId id="307" r:id="rId68"/>
  </p:sldIdLst>
  <p:sldSz cx="12192000" cy="6858000"/>
  <p:notesSz cx="6858000" cy="12192000"/>
  <p:embeddedFontLst>
    <p:embeddedFont>
      <p:font typeface="Consolas" panose="020B0609020204030204" pitchFamily="49" charset="0"/>
      <p:regular r:id="rId70"/>
      <p:bold r:id="rId71"/>
      <p:italic r:id="rId72"/>
      <p:boldItalic r:id="rId73"/>
    </p:embeddedFont>
    <p:embeddedFont>
      <p:font typeface="JetBrains Mono" panose="020B0604020202020204" charset="0"/>
      <p:regular r:id="rId74"/>
    </p:embeddedFont>
    <p:embeddedFont>
      <p:font typeface="JetBrains Mono Bold" panose="020B0604020202020204" charset="0"/>
      <p:regular r:id="rId75"/>
    </p:embeddedFont>
    <p:embeddedFont>
      <p:font typeface="JetBrains Mono Medium" panose="020B0604020202020204" charset="0"/>
      <p:regular r:id="rId76"/>
    </p:embeddedFont>
    <p:embeddedFont>
      <p:font typeface="JetBrains Mono SemiBold" panose="020B0604020202020204" charset="0"/>
      <p:regular r:id="rId7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19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574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5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3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1.fntdata"/><Relationship Id="rId75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4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098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82DC7-FA5D-81A2-63C0-7ED2E261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7705E-6E31-7CFE-F163-ED2B8831C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3259AD-A890-D7B9-90D4-F4D620765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9F72D-1ABA-12DE-56A9-3B5565F325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966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05833-CD3F-33BD-2829-FA9153CE5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7E6FA-1C67-CC43-C810-1FA49ABAE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2608D4-2997-7804-FF3C-59FC4A047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36657-EB48-FFD9-073C-9EE34B2FC6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09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29E2-7C68-4D10-B233-63773307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374F19-03BA-FB30-8C09-AC5218A23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AB8E2-5411-A8C5-873C-96FDA3FA3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0D547-8A1C-33E3-4FAC-3E22A39E8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836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5DD5-7107-3A28-1A8C-7585214F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2C87B-FB14-021C-48BB-9CBF480B75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5612F-0A56-8082-7EAB-F990177736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FC3E8-191D-3372-5751-5F5272C125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198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CA8E9-91CF-2F48-AAAF-AF07C7ECC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597EA-2883-339E-B9AA-2E32E26F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C470B-543D-B187-8749-8088E4460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FAA3F-A3F9-8BBA-8F0F-FCC603744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628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4EADC-A2D0-AB7A-A9C1-54629C21A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F6325-3D32-2F0C-7DF8-0687285EF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E1979-B0FB-943D-6DFD-ADEB8DE1E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C8834-2054-7D63-91FA-91C2483729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682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342BB-4D89-7CBF-D629-C389C861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8969D5-9CC1-B9B8-7B89-EB8DAF2CCF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2B48EF-ADD2-9A50-ED9F-0A5CA4351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AAB4B-3AC7-2575-2456-C929693B78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565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54A1-8DCF-EC33-EC49-8B2B35ECB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8CBD4-A2D5-355D-6BB3-C4999C7AF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281DA5-AAC0-C076-2C2F-C6AAACB05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85344-53C4-B05E-F911-C6E03942D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634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95815-2FA4-7591-7AC2-CA93EF09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E4F30-83BB-3A05-C3A6-165FFD66A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E6B45D-187C-E338-1C33-F0FB06D544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DC3BF-21F2-0CA0-3B2C-BD5EF87FA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24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3D1AE-9FB4-1D53-E0E1-9A286B22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DE169-5F9C-1811-E28E-242929B5D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273B0-0303-F0EF-1C40-F1C26E441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9183C-4797-7D2A-208E-B34D011FF1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041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ED97F-B7A9-4000-F762-7DE3B9365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C64D9-6C37-65ED-6606-ACBC8981F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40446-B0C0-9BF9-83D6-3E742B707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F0A4-0FDC-680F-6D97-ACF9830A25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752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8493-5310-F980-4B31-84A3C0A4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FEFFC-2214-D534-9E80-9A03B3F55B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1CC07-19CF-E827-88AB-F29FC0097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9B253-6AB1-A9AF-7438-D9DD460582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5132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59272-DC07-5C07-FA13-D656AD98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B1E67-3B1F-EF6E-3AE5-6013B14F07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6F8C8-8142-3479-5D24-60279FEEB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93464-756D-52ED-7D57-B2184E39C8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105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AF9EF-E4A3-B974-7845-1367C04F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5E433-EF95-DF5F-77E0-456B1AF9E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A1714-338A-0290-222C-76E907DFD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90D45-6C2F-73F0-7228-A736452AE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437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3E45-8E00-2BB3-CABB-4907601E3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1AA87-BBC6-2B36-1654-0C682F98A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5CDF3A-4F83-346F-8071-D4BF2476E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A226F-F7C5-9367-48D6-6A5147894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10916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E55AB-40CD-8780-6D83-CCEC366AC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9EE9D-C8DD-8FC9-E588-153306EED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23FE3-0E1C-2942-B605-63EE47BC1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44192-3768-E41B-9AFB-79957E717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6578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60" r:id="rId9"/>
    <p:sldLayoutId id="2147483661" r:id="rId10"/>
    <p:sldLayoutId id="2147483663" r:id="rId11"/>
    <p:sldLayoutId id="2147483664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751821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PROJECT REVIEW, PHASE 1 · 9 OCTOBER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285603"/>
            <a:ext cx="721342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600" b="1" kern="100" spc="-11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ecu_soc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09585" y="3034903"/>
            <a:ext cx="721342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 RISC-V HARDWARE ECU (SOC) FOR A SELF-BALANCING ROBOT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09585" y="3930253"/>
            <a:ext cx="751821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RTL to FPGA validation to layout (RTL-to-GDSII)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5438378"/>
            <a:ext cx="7213420" cy="911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Dept. of VLSI Design &amp; Technology,</a:t>
            </a:r>
            <a:endParaRPr lang="en-US" sz="1050" dirty="0"/>
          </a:p>
          <a:p>
            <a:pPr marL="0" indent="0" algn="l">
              <a:lnSpc>
                <a:spcPct val="117000"/>
              </a:lnSpc>
              <a:spcAft>
                <a:spcPts val="1250"/>
              </a:spcAft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Goa College of Engineering</a:t>
            </a:r>
            <a:endParaRPr lang="en-US" sz="10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Team: Jatin, Kaushal, Dipiksha, Vedam, Jaydev</a:t>
            </a:r>
            <a:endParaRPr lang="en-US" sz="10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Guide: Dr. Sonia Kurade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D907-11C4-BD86-0FB7-DF9643CB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03C62FB-78A2-044E-008B-FD4F384DCEC0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A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2C489F-F15E-2967-F92B-6F3AC9FEF750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227C06-F970-D1CC-F98E-4D3400F5CAC1}"/>
              </a:ext>
            </a:extLst>
          </p:cNvPr>
          <p:cNvSpPr/>
          <p:nvPr/>
        </p:nvSpPr>
        <p:spPr>
          <a:xfrm>
            <a:off x="609585" y="247908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PROJECT CONTEXT</a:t>
            </a:r>
            <a:endParaRPr lang="en-US" sz="6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&amp; DESIGN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OBJECTIVES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158455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WHAT IS AN ECU?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09725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Electronic Control Unit: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 small embedded system that senses, decides and acts within fixed time limits.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585" y="2542679"/>
            <a:ext cx="2072628" cy="2031802"/>
          </a:xfrm>
          <a:prstGeom prst="roundRect">
            <a:avLst>
              <a:gd name="adj" fmla="val 563"/>
            </a:avLst>
          </a:prstGeom>
          <a:noFill/>
          <a:ln w="25399">
            <a:solidFill>
              <a:srgbClr val="4A4C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3578" y="2796679"/>
            <a:ext cx="156464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Sensors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3578" y="3210620"/>
            <a:ext cx="181863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Sense 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86906" y="2542679"/>
            <a:ext cx="6217784" cy="2031802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8" name="Text 6"/>
          <p:cNvSpPr/>
          <p:nvPr/>
        </p:nvSpPr>
        <p:spPr>
          <a:xfrm>
            <a:off x="3215500" y="2771279"/>
            <a:ext cx="576059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ECU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215500" y="3251299"/>
            <a:ext cx="59891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I2C · Filter · PID · PWM · safety · CPU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15500" y="3681512"/>
            <a:ext cx="5760497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11" name="Text 9"/>
          <p:cNvSpPr/>
          <p:nvPr/>
        </p:nvSpPr>
        <p:spPr>
          <a:xfrm>
            <a:off x="3215500" y="3867249"/>
            <a:ext cx="576059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· memory · sensor interfaces · actuator drivers · timers · safety logic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09383" y="2542679"/>
            <a:ext cx="2072727" cy="2031802"/>
          </a:xfrm>
          <a:prstGeom prst="roundRect">
            <a:avLst>
              <a:gd name="adj" fmla="val 563"/>
            </a:avLst>
          </a:prstGeom>
          <a:noFill/>
          <a:ln w="25399">
            <a:solidFill>
              <a:srgbClr val="4A4C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3377" y="2796679"/>
            <a:ext cx="156474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Actuators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763377" y="3210620"/>
            <a:ext cx="181873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585" y="5415359"/>
            <a:ext cx="1158211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Vehicles carry many: powertrain, safety, body control, HVAC, lighting, keyless entry.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9585" y="5819775"/>
            <a:ext cx="10972526" cy="428625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Ours: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 compact ECU designed as an SoC, controlling a self-balancing robot.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two-wheeled balancing robot is unstable: measure tilt and correct within milliseconds.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1590675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TYPICAL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1837035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Single MCU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2317055"/>
            <a:ext cx="5257668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Software loop on a general-purpose MCU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Timing jitters with firmware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Safety shares the processor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Commercial ECUs are closed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159067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4442" y="1837035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Hardware loop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24442" y="2317055"/>
            <a:ext cx="5257668" cy="1247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Compact, transparent ECU SoC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Dedicated hardware, fixed latency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 RISC-V CPU configures and supervises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Independent hardware safety cuts motors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5617369"/>
            <a:ext cx="10972526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Fixed-latency sensing to PWM · CPU out of the real-time loop · Verified in simulation, validated on FPGA, carried through layout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9498" y="1590675"/>
            <a:ext cx="12700" cy="3861594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OBJECTIVES AND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6205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5176" y="1149350"/>
            <a:ext cx="490207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Synthesizable RTL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5176" y="1563291"/>
            <a:ext cx="490207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Verilog for every ECU block; verified against a reference model.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24442" y="116205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80033" y="1149350"/>
            <a:ext cx="490207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Real-time datapath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80033" y="1563291"/>
            <a:ext cx="490207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I²C IMU, calibration, filtering, fixed-point PID, PWM.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585" y="27584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5176" y="2745780"/>
            <a:ext cx="490207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Hardware safety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5176" y="3159720"/>
            <a:ext cx="513067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Tilt, sensor loss, watchdog, E-stop.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24442" y="275848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80033" y="2745780"/>
            <a:ext cx="490207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Ibex RISC-V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80033" y="3159720"/>
            <a:ext cx="490207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Core, memory and memory-mapped bus.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585" y="412630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5176" y="4113609"/>
            <a:ext cx="490207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FPGA validation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65176" y="4527550"/>
            <a:ext cx="490207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Block-by-block, then full ECU on a balancing robot.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4442" y="4126309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80033" y="4113609"/>
            <a:ext cx="490207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Physical design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80033" y="4527550"/>
            <a:ext cx="490207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Cadence RTL-to-GDSII flow.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9585" y="5418038"/>
            <a:ext cx="1097252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 scope: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single-axis PID balancing, one IMU, two DC motors.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Future: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LQR/MPC, outer loops, wireless, multi-axis.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585" y="606177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Objectives are targets; outcomes reported with measured numbers.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89498" y="1149350"/>
            <a:ext cx="12700" cy="136783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585" y="2510830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5" name="Shape 23"/>
          <p:cNvSpPr/>
          <p:nvPr/>
        </p:nvSpPr>
        <p:spPr>
          <a:xfrm>
            <a:off x="6089498" y="2517180"/>
            <a:ext cx="12700" cy="136783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2510830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5" y="3878659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8" name="Shape 26"/>
          <p:cNvSpPr/>
          <p:nvPr/>
        </p:nvSpPr>
        <p:spPr>
          <a:xfrm>
            <a:off x="6089498" y="3885009"/>
            <a:ext cx="12700" cy="136783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9" name="Shape 27"/>
          <p:cNvSpPr/>
          <p:nvPr/>
        </p:nvSpPr>
        <p:spPr>
          <a:xfrm>
            <a:off x="6095848" y="3878659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B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247908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CONCEPT,</a:t>
            </a:r>
            <a:endParaRPr lang="en-US" sz="6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METHODOLOGY</a:t>
            </a:r>
            <a:endParaRPr lang="en-US" sz="6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AND POSITIONING</a:t>
            </a:r>
            <a:endParaRPr lang="en-US" sz="6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33400"/>
            <a:ext cx="518147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THE INVERTED PENDULUM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073150"/>
            <a:ext cx="5181470" cy="993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rod balanced upright is an unstable equilibrium: any small tilt grows.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Small-angle model: θ̈ ≈ (g/l)·θ − (1/l)·a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2232025"/>
            <a:ext cx="518147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 grows about 2.7× every √(l/g); for l = 15 cm, that is about 0.12 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585" y="2875756"/>
            <a:ext cx="5181470" cy="428625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Controller reacts in tens of milliseconds.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5976739"/>
            <a:ext cx="518147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 = pendulum · wheels = movable pivot</a:t>
            </a:r>
            <a:endParaRPr lang="en-US" sz="105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Motors = acceleration · IMU = tilt sensor</a:t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640" y="533400"/>
            <a:ext cx="5181470" cy="3905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THE BALANCING LOOP: SENSE, COMPUTE, 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Lean forward, drive forward; lean back, drive back.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90675"/>
            <a:ext cx="10972526" cy="279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549775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512 Hz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09585" y="5029795"/>
            <a:ext cx="3657509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pass every about 1.95 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495688" y="4549775"/>
            <a:ext cx="320032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Under 5 µs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495688" y="5029795"/>
            <a:ext cx="320032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Hardware; sensor read about 0.4 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53196" y="4549775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About 3 ms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153196" y="5029795"/>
            <a:ext cx="342891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Sensor low-pass dominates delay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9585" y="5673527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Handles pushes, uneven floor, battery changes, sensor noise.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60743" y="4549775"/>
            <a:ext cx="12700" cy="958652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3" name="Shape 10"/>
          <p:cNvSpPr/>
          <p:nvPr/>
        </p:nvSpPr>
        <p:spPr>
          <a:xfrm>
            <a:off x="7918252" y="4549775"/>
            <a:ext cx="12700" cy="958652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WHY PID: CONTROL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09725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 deterministic hardware block; needs only the IMU. Gains live in registers, so tuning needs no re-synthesis.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697163"/>
          <a:ext cx="10972525" cy="2555810"/>
        </p:xfrm>
        <a:graphic>
          <a:graphicData uri="http://schemas.openxmlformats.org/drawingml/2006/table">
            <a:tbl>
              <a:tblPr/>
              <a:tblGrid>
                <a:gridCol w="26333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4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0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OPTION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NEEDS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COMPLEXITY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COMMENT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PID (chosen)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angle + rate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low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simple, fixed-point friendly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Fuzzy-tuned PID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angle + rule base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medium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extra logic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LQR / state feedback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model + encoders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medium-high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more sensors, matrix maths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MPC / adaptive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model + optimiser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overkill here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SENSING AND ANGLE ESTIMATION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0972526" cy="993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Baseline: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accel tilt, gyro rate for the derivative term, short moving average.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Option: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shift-only complementary filter.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Sensor: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MPU-6050 over I²C.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917825"/>
          <a:ext cx="10972526" cy="2555810"/>
        </p:xfrm>
        <a:graphic>
          <a:graphicData uri="http://schemas.openxmlformats.org/drawingml/2006/table">
            <a:tbl>
              <a:tblPr/>
              <a:tblGrid>
                <a:gridCol w="3291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0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0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APPROACH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STRENGTH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WEAKNESS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Accelerometer only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 drift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noisy under acceleration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Gyroscope only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smooth, fast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drifts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Complementary filter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cheap, combines both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one tuning constant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Kalman filter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optimal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heavy compute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WHY A HYBRID IMPLEMENTATION PLATFORM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Latency is fixed by structure; the CPU configures but cannot disturb timing.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70695"/>
          <a:ext cx="10972526" cy="3103880"/>
        </p:xfrm>
        <a:graphic>
          <a:graphicData uri="http://schemas.openxmlformats.org/drawingml/2006/table">
            <a:tbl>
              <a:tblPr/>
              <a:tblGrid>
                <a:gridCol w="351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5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1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PLATFORM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TIMING DETERMINISM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SOFTWARE-INDEPENDENT SAFETY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CONFIGURABLE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EFFORT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A. Software PID on MCU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firmware-dependent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low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B. Fixed-function FPGA only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possible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low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medium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C. Soft-core CPU does all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software-dependent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medium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D. Hardware datapath + RISC-V supervisor (ours)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high, fixed in clock cycles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yes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 (registers)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139697" marB="139697" anchor="ctr">
                    <a:lnL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1F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5819775"/>
            <a:ext cx="10972526" cy="428625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cost: more design and verification work.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097252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Prior work shows how PID works, FPGAs help, and RISC-V is entering ECUs. We combine these in a small, open platform.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866900"/>
          <a:ext cx="11023129" cy="4017467"/>
        </p:xfrm>
        <a:graphic>
          <a:graphicData uri="http://schemas.openxmlformats.org/drawingml/2006/table">
            <a:tbl>
              <a:tblPr/>
              <a:tblGrid>
                <a:gridCol w="2544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9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REF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WHAT WAS DONE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GAP VS OUR GOAL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R1 Ordóñez Cerezo 2019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PD in open-source FPGA; IMU read via Arduino Nano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external MCU, no integrated CPU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2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R2 ICM³ 2026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ESP32 + MPU-6050 + complementary filter + PID (Kp 25, Ki 0.8, Kd 10); settles in 1.5 to 2 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software loop, no hardware determinism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R3 Langley 2016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myRIO FPGA with PID loops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commercial platform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R4 Abdel-Hady 2025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multibody model + PID, LabVIEW FPGA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vendor tool flow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R5 Undip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ATMega16 + MPU-6050, fuzzy-tuned PID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MCU software only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R6 IEEE survey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FPGA accelerators suit latency-critical robotics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survey, not a full SoC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R7 arXiv 2023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RISC-V automotive ECU; interrupt-latency gap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high-end automotive focus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5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R8 Ibex (lowRISC)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small 32-bit RV32IMC core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 core, not a system</a:t>
                      </a:r>
                      <a:endParaRPr lang="en-US" sz="12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01598" marR="1015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IS ANYONE ELSE DOING SOMETHING SIMILAR?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30300"/>
            <a:ext cx="1097252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Dedicated hardware for the time-critical loop. A CPU for management.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1560810"/>
            <a:ext cx="5257668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 C2000 control-law accelerator runs independent of the main CPU [R10]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RISC-V motor drives with hardware FOC [R11]; Codasip RISC-V with CORDIC accelerators [R12]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SignOff REV-E dual-core RISC-V controller [R13]; Infineon RISC-V automotive MCU [R14]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24442" y="1560810"/>
            <a:ext cx="5257668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architectural idea is established in industry.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found in a limited search: an open, small-scale reference combining RISC-V supervisor, hardware PID, CPU-independent safety and a documented flow to layout.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5543550"/>
            <a:ext cx="10972526" cy="70485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 are not competing with these products. We build a transparent, student-scale reference of the same proven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WHAT IS DIFFERENT IN OUR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0972526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CPU out of the loop: fixed-latency hardware pipeline, Ibex only supervises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Independent safety monitor: motors off within 2 clock cycles, deliberate re-arm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 term from the gyro rate, with built-in anti-windup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Everything tunable through registers, no re-synthesis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Frozen interface contract: five people build in parallel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End-to-end and documented: simulation, FPGA, layout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5501680"/>
            <a:ext cx="10972526" cy="74672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individual ideas are known; what is new is the open, fully documented combination.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WHY IT FITS, AND THE TRADE-OFFS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49350"/>
          <a:ext cx="10972526" cy="3682904"/>
        </p:xfrm>
        <a:graphic>
          <a:graphicData uri="http://schemas.openxmlformats.org/drawingml/2006/table">
            <a:tbl>
              <a:tblPr/>
              <a:tblGrid>
                <a:gridCol w="285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9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99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ASPECT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SOFTWARE PID ON MCU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OUR HYBRID ECU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Loop timing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varies with firmware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fixed in clock cycles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CPU load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loop uses the CPU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CPU free for supervision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Safety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same CPU as the loop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separate hardware monitor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Tuning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recompile / flash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write registers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Visibility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hidden by libraries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every signal observable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Design effort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low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higher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03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Changing the algorithm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easy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needs RTL change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617369"/>
            <a:ext cx="10972526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Accepted: more up-front effort and a fixed PID structure, for predictability and safety independence. Latency, jitter and fault response will be measured, not assumed.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46DB-973A-55FB-EBD0-FB70DD07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B90F2D7-CE34-7F19-A9DF-27A7D1B40876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C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075B39-8138-2597-8916-DC2C20B81770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FFD0CD-DCBB-FEDC-280C-B637A0681EBC}"/>
              </a:ext>
            </a:extLst>
          </p:cNvPr>
          <p:cNvSpPr/>
          <p:nvPr/>
        </p:nvSpPr>
        <p:spPr>
          <a:xfrm>
            <a:off x="609585" y="282632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SYSTEM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ARCHITECTURE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2220532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SYSTEM ARCHITECTURE AND BLOCK DIAGRAM</a:t>
            </a:r>
            <a:endParaRPr lang="en-US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B28C4C-431B-5510-0C53-CB593D13C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5" y="965200"/>
            <a:ext cx="12089985" cy="58615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DATA FLOW, TIMING AND CONVENTIONS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50 MHz clock domain, synchronous; each stage passes a 1-cycle valid pulse.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4" y="5165626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Q16.16 signed fixed-point: </a:t>
            </a:r>
            <a:r>
              <a:rPr lang="en-US" sz="14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0.25 rad = 16384; motor command in [−1, +1].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585" y="5543550"/>
            <a:ext cx="10972526" cy="70485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stage finishes within 64 clock cycles; names, widths, formats and addresses frozen team-wide.</a:t>
            </a:r>
            <a:endParaRPr lang="en-US" sz="1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041291-1800-CF21-2BFD-2271C0C3F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377" y="1527274"/>
            <a:ext cx="11731246" cy="31779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I²C MASTER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MPU-6050 bus master. SCL and SDA are open-drain: pull low or release.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590675"/>
            <a:ext cx="10972526" cy="5982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2354064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DIV = 31 gives about 390 kHz at 50 MHz.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585" y="2795389"/>
            <a:ext cx="10972526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Bit-level FSM: START, 8 data bits, ACK, repeated START, STOP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synchronisers, clock stretching, stuck-bus recovery (9 pulses)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byte = 9 clocks, about 23 µs; MPU-6050 allows up to 400 kHz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9585" y="5819775"/>
            <a:ext cx="10972526" cy="428625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Verified with a behavioural slave model: ACK/NACK, repeated start, stretching. Then ILA.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23099-D647-0E5E-05BC-93783768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D23D80-570C-6705-C180-B28F32FA6F6B}"/>
              </a:ext>
            </a:extLst>
          </p:cNvPr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I²C MASTER SENSOR SUBSYSTEM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2BC7BC-EED0-F9DB-038C-0133A32D8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5200"/>
            <a:ext cx="12192000" cy="507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6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MPU-6050 CONTROLLER AND REGISTER BANK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START-UP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1430635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Wait 50 ms, WHO_AM_I (expect 0x68), wake, set divider, low-pass, gyro ±250 °/s, accel ±2 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209103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EACH TICK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2372320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14-byte burst read from 0x3B: ax, ay, az, temp, gx, gy, gz, high byte first.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24442" y="114935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SAMPLES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4442" y="1430635"/>
            <a:ext cx="525766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Published together only after STOP.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24442" y="181481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NACK OR TIMEOUT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24442" y="2096095"/>
            <a:ext cx="525766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Abort, count, skip; 3 in a row: re-initialise.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24442" y="248027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REGISTER BANK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24442" y="2761555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Enable, clock divider, status, counters, last raw values.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585" y="5798840"/>
            <a:ext cx="10972526" cy="44956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Tick to sample ready: about 0.4 ms.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TIMER, CLOCK AND RESET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B25CB8-ABD1-3FF3-3528-D7614FDB6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17" y="965200"/>
            <a:ext cx="11204294" cy="4126905"/>
          </a:xfrm>
          <a:prstGeom prst="rect">
            <a:avLst/>
          </a:prstGeom>
        </p:spPr>
      </p:pic>
      <p:sp>
        <p:nvSpPr>
          <p:cNvPr id="16" name="Text 1">
            <a:extLst>
              <a:ext uri="{FF2B5EF4-FFF2-40B4-BE49-F238E27FC236}">
                <a16:creationId xmlns:a16="http://schemas.microsoft.com/office/drawing/2014/main" id="{36F15DC2-694E-E1E7-F629-583ECCFA64B3}"/>
              </a:ext>
            </a:extLst>
          </p:cNvPr>
          <p:cNvSpPr/>
          <p:nvPr/>
        </p:nvSpPr>
        <p:spPr>
          <a:xfrm>
            <a:off x="609586" y="491877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TIMER</a:t>
            </a:r>
            <a:endParaRPr lang="en-US" sz="8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87B3A976-9996-FA8F-1863-BF9480F343F7}"/>
              </a:ext>
            </a:extLst>
          </p:cNvPr>
          <p:cNvSpPr/>
          <p:nvPr/>
        </p:nvSpPr>
        <p:spPr>
          <a:xfrm>
            <a:off x="609586" y="516513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About 512 Hz</a:t>
            </a:r>
            <a:endParaRPr lang="en-US" sz="1600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A1E3B1E4-2D48-3A41-CF72-BEFF1BD57469}"/>
              </a:ext>
            </a:extLst>
          </p:cNvPr>
          <p:cNvSpPr/>
          <p:nvPr/>
        </p:nvSpPr>
        <p:spPr>
          <a:xfrm>
            <a:off x="609586" y="5447705"/>
            <a:ext cx="5257668" cy="936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32-bit counter, programmable period; default 97,656 cycles at 50 MHz.</a:t>
            </a:r>
            <a:endParaRPr lang="en-US" sz="11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Outputs: control_tick (1-cycle pulse) and a CPU interrupt every 51 ticks (about 10 Hz).</a:t>
            </a:r>
            <a:endParaRPr lang="en-US" sz="110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3CF2F37C-4CA0-9418-7575-FFF307755FA1}"/>
              </a:ext>
            </a:extLst>
          </p:cNvPr>
          <p:cNvSpPr/>
          <p:nvPr/>
        </p:nvSpPr>
        <p:spPr>
          <a:xfrm>
            <a:off x="6324443" y="491877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CLOCK AND RESET</a:t>
            </a:r>
            <a:endParaRPr lang="en-US" sz="8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2DC1E8E9-98C3-4632-8A3F-95E305DD2350}"/>
              </a:ext>
            </a:extLst>
          </p:cNvPr>
          <p:cNvSpPr/>
          <p:nvPr/>
        </p:nvSpPr>
        <p:spPr>
          <a:xfrm>
            <a:off x="6324443" y="516513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50 MHz</a:t>
            </a:r>
            <a:endParaRPr lang="en-US" sz="16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C427969-9C98-C2B8-2444-C37505D37816}"/>
              </a:ext>
            </a:extLst>
          </p:cNvPr>
          <p:cNvSpPr/>
          <p:nvPr/>
        </p:nvSpPr>
        <p:spPr>
          <a:xfrm>
            <a:off x="6324443" y="5447705"/>
            <a:ext cx="5257668" cy="936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Board oscillator, MMCM.</a:t>
            </a:r>
            <a:endParaRPr lang="en-US" sz="11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Reset asserts immediately, releases synchronously, held until the clock locks.</a:t>
            </a:r>
            <a:endParaRPr lang="en-US" sz="11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35EA0B24-C802-F1B5-ECC2-27381836C2ED}"/>
              </a:ext>
            </a:extLst>
          </p:cNvPr>
          <p:cNvSpPr/>
          <p:nvPr/>
        </p:nvSpPr>
        <p:spPr>
          <a:xfrm>
            <a:off x="609585" y="6269620"/>
            <a:ext cx="10972526" cy="428625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Overrun flag if the sensor is still busy at the next tick.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MEASUREMENT CAPTURE AND CALIBRATION</a:t>
            </a:r>
            <a:endParaRPr lang="en-US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1BA52F-C25E-ECAE-55B4-64937E8AD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00"/>
            <a:ext cx="12192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D511-3C9F-1B6A-B65F-C5B3ADC2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BED817-05B0-E4AF-20B2-CCEEB2574977}"/>
              </a:ext>
            </a:extLst>
          </p:cNvPr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MEASUREMENT CAPTURE AND CALIBRATION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AC287D-19DC-321F-F7A3-D03D14845E9A}"/>
              </a:ext>
            </a:extLst>
          </p:cNvPr>
          <p:cNvSpPr/>
          <p:nvPr/>
        </p:nvSpPr>
        <p:spPr>
          <a:xfrm>
            <a:off x="609585" y="1149350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Capture latches all six axes at the same instant; sequence counter for tracking.</a:t>
            </a: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2CA7C0-C2A6-250E-1183-E4085C1AAD4D}"/>
              </a:ext>
            </a:extLst>
          </p:cNvPr>
          <p:cNvSpPr/>
          <p:nvPr/>
        </p:nvSpPr>
        <p:spPr>
          <a:xfrm>
            <a:off x="609585" y="1739900"/>
            <a:ext cx="109725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Gyro-bias calibration</a:t>
            </a:r>
            <a:endParaRPr lang="en-US" sz="2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135B64-452A-1843-0CB1-FC484C5195C7}"/>
              </a:ext>
            </a:extLst>
          </p:cNvPr>
          <p:cNvSpPr/>
          <p:nvPr/>
        </p:nvSpPr>
        <p:spPr>
          <a:xfrm>
            <a:off x="609585" y="2219920"/>
            <a:ext cx="10972526" cy="115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Robot still: discard 64 samples, average 256 (about 0.6 s), subtract bias from later readings.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small constant gyro offset integrates into a growing angle error.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FSM: idle, settle, accumulate, done; auto-start in hardware-only test mode.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09D8DB-F60B-3B01-CEB7-8F8C68A99919}"/>
              </a:ext>
            </a:extLst>
          </p:cNvPr>
          <p:cNvSpPr/>
          <p:nvPr/>
        </p:nvSpPr>
        <p:spPr>
          <a:xfrm>
            <a:off x="609585" y="5798840"/>
            <a:ext cx="10972526" cy="44956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Safety monitor refuses to arm until calibration is done.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909680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ANGLE CONVERSION AND ERROR CALCULATION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19538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/>
          <p:cNvSpPr/>
          <p:nvPr/>
        </p:nvSpPr>
        <p:spPr>
          <a:xfrm>
            <a:off x="609585" y="143827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ACCELEROMETER → TILT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19560"/>
            <a:ext cx="5257668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157710"/>
            <a:ext cx="525766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16384 LSB/g converts by ×4 into Q16.16 radians. Small-angle approximation: about 4% off at 0.5 rad, negligible near upright.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9585" y="348168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GYRO → RATE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9585" y="3705820"/>
            <a:ext cx="525766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131 LSB/(°/s) to rad/s in Q16.16 is about ×8.73. Shift-add ×8.75 gives 0.2% error, with no multiplier.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9585" y="486469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ERROR CALCULATION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145980"/>
            <a:ext cx="5257668" cy="330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9585" y="5584130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Saturating subtraction; rate passes through to the PID.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324442" y="143827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MOUNTING AND TRIM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324442" y="1719560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Mounting-dependent axis select and sign-invert bits; balance-point trim register.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24442" y="352931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WORKED CONVERSIONS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324442" y="3804245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Accel 4096 gives 16384 (0.25 rad); gyro 131 gives 1145.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DIGITAL FILTER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49350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Moving average of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samples, k = 0 to 4; k = 0 is bypass. One instance for angle, one for rate.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700" y="1181100"/>
            <a:ext cx="151007" cy="1935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1735931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Circular buffer + running sum: one add, one subtract, one shift. No multipliers.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9585" y="2322513"/>
            <a:ext cx="5257668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More smoothing means more phase lag. Extra delay about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samples, about (N-1)</a:t>
            </a:r>
            <a:r>
              <a:rPr lang="en-US" sz="1300" dirty="0" err="1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per step at 512 Hz, on top of the sensor's 3 ms internal filter. N stays small (2 to 8).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989" y="2593578"/>
            <a:ext cx="711678" cy="2062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9585" y="338772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OPTIONAL COMPLEMENTARY FILTER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3669010"/>
            <a:ext cx="5257668" cy="330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9585" y="4107160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 Shifts only; selected by a register bit.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4138910"/>
            <a:ext cx="721898" cy="206276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9617" y="4138910"/>
            <a:ext cx="877270" cy="20627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324442" y="114935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STEP RESPONSE · 0 TO 4000</a:t>
            </a:r>
            <a:endParaRPr lang="en-US" sz="10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2" y="1430635"/>
            <a:ext cx="5257668" cy="32385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324442" y="4777085"/>
            <a:ext cx="525766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Verification: N = 4 gives 1000, 2000, 3000, 4000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42F865A-1B0F-A1D0-4096-BF5E30F113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276" y="1690061"/>
            <a:ext cx="1234547" cy="3276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HARDWARE PID ACCELERATOR: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19538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2373863-FF0D-C0A0-B161-536DFE327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9235"/>
            <a:ext cx="12192000" cy="50792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DAF9-760E-940E-80A3-650E3ED94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3A3F52-2B05-1D3C-0899-8DA8FF2E991C}"/>
              </a:ext>
            </a:extLst>
          </p:cNvPr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HARDWARE PID ACCELERATOR: ARCHITECTURE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6BB6D5-8003-9166-DAF1-2D18288D3EFF}"/>
              </a:ext>
            </a:extLst>
          </p:cNvPr>
          <p:cNvSpPr/>
          <p:nvPr/>
        </p:nvSpPr>
        <p:spPr>
          <a:xfrm>
            <a:off x="609585" y="1195388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02AFA1-5805-245A-CFC0-B2856EE190FF}"/>
              </a:ext>
            </a:extLst>
          </p:cNvPr>
          <p:cNvSpPr/>
          <p:nvPr/>
        </p:nvSpPr>
        <p:spPr>
          <a:xfrm>
            <a:off x="609585" y="143827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INTERFACE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F8536DA-1AA5-0960-4F41-92F83A6ED834}"/>
              </a:ext>
            </a:extLst>
          </p:cNvPr>
          <p:cNvSpPr/>
          <p:nvPr/>
        </p:nvSpPr>
        <p:spPr>
          <a:xfrm>
            <a:off x="609585" y="1719560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Inputs: error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rate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run-enable from safety. Outputs: motor command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 Q16.16, saturation flag.</a:t>
            </a:r>
            <a:endParaRPr lang="en-US" sz="130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0501A4D8-6FF3-619F-8BDC-5277B5AB6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430" y="1751310"/>
            <a:ext cx="75206" cy="206276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B1DAEAF6-7187-51B5-DB54-7735F71C7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5058" y="1751310"/>
            <a:ext cx="106062" cy="206276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EE5A371D-67C6-00D3-CB66-6E7FFFCC1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987" y="1990626"/>
            <a:ext cx="863082" cy="206276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AAA1E6B8-338E-F6B5-E843-DEBBFDFCEA49}"/>
              </a:ext>
            </a:extLst>
          </p:cNvPr>
          <p:cNvSpPr/>
          <p:nvPr/>
        </p:nvSpPr>
        <p:spPr>
          <a:xfrm>
            <a:off x="609585" y="3072507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DATAPATH</a:t>
            </a:r>
            <a:endParaRPr lang="en-US" sz="10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6459B62-0CE3-C044-A8B2-01F5A534ECDA}"/>
              </a:ext>
            </a:extLst>
          </p:cNvPr>
          <p:cNvSpPr/>
          <p:nvPr/>
        </p:nvSpPr>
        <p:spPr>
          <a:xfrm>
            <a:off x="609585" y="3353792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 term; I term with clamped accumulator; gyro-rate-based D term; sum and saturate.</a:t>
            </a:r>
            <a:endParaRPr lang="en-US" sz="13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3A264EF-EAA7-1150-FC10-E72D53445BFD}"/>
              </a:ext>
            </a:extLst>
          </p:cNvPr>
          <p:cNvSpPr/>
          <p:nvPr/>
        </p:nvSpPr>
        <p:spPr>
          <a:xfrm>
            <a:off x="609585" y="4276923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SHARED ARITHMETIC</a:t>
            </a:r>
            <a:endParaRPr lang="en-US" sz="10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C535A8DC-CD33-21F3-CA34-50CC074F614A}"/>
              </a:ext>
            </a:extLst>
          </p:cNvPr>
          <p:cNvSpPr/>
          <p:nvPr/>
        </p:nvSpPr>
        <p:spPr>
          <a:xfrm>
            <a:off x="609585" y="4539159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shared 32×32 multiplier, time-shared by a small state machine, about 8 cycles. Smaller than three multipliers.</a:t>
            </a:r>
            <a:endParaRPr lang="en-US" sz="1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D2D57CF-71D1-47A4-5510-37AC299C7592}"/>
              </a:ext>
            </a:extLst>
          </p:cNvPr>
          <p:cNvSpPr/>
          <p:nvPr/>
        </p:nvSpPr>
        <p:spPr>
          <a:xfrm>
            <a:off x="6324442" y="143827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REGISTER BANK</a:t>
            </a:r>
            <a:endParaRPr lang="en-US" sz="10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7C62578-6475-1AB5-822C-729D939945D9}"/>
              </a:ext>
            </a:extLst>
          </p:cNvPr>
          <p:cNvSpPr/>
          <p:nvPr/>
        </p:nvSpPr>
        <p:spPr>
          <a:xfrm>
            <a:off x="6324442" y="1719560"/>
            <a:ext cx="5257668" cy="825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Kp, Ki pre-scaled by Ts, Kd, setpoint, integrator limit, output limit, control bits.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Read-only telemetry: P, I, D and output.</a:t>
            </a:r>
            <a:endParaRPr lang="en-US" sz="13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F7D3163-F3BF-5F7A-4B02-0416AA6A7E9D}"/>
              </a:ext>
            </a:extLst>
          </p:cNvPr>
          <p:cNvSpPr/>
          <p:nvPr/>
        </p:nvSpPr>
        <p:spPr>
          <a:xfrm>
            <a:off x="6324442" y="3435648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LATENCY TARGET</a:t>
            </a:r>
            <a:endParaRPr lang="en-US" sz="10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45A3ED0-8830-BDAD-3011-C50A6ADC6298}"/>
              </a:ext>
            </a:extLst>
          </p:cNvPr>
          <p:cNvSpPr/>
          <p:nvPr/>
        </p:nvSpPr>
        <p:spPr>
          <a:xfrm>
            <a:off x="6324442" y="3710583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At most 16 cycles</a:t>
            </a:r>
            <a:endParaRPr lang="en-US" sz="2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67228ED-279E-6301-4BF3-486CE4A2C3B4}"/>
              </a:ext>
            </a:extLst>
          </p:cNvPr>
          <p:cNvSpPr/>
          <p:nvPr/>
        </p:nvSpPr>
        <p:spPr>
          <a:xfrm>
            <a:off x="6324442" y="4158853"/>
            <a:ext cx="5257668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pulse to output pulse: about 0.3 µs at 50 MHz.</a:t>
            </a:r>
            <a:endParaRPr lang="en-US" sz="13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F52C879B-87EA-1C5A-65FC-86DF459FA7A9}"/>
              </a:ext>
            </a:extLst>
          </p:cNvPr>
          <p:cNvSpPr/>
          <p:nvPr/>
        </p:nvSpPr>
        <p:spPr>
          <a:xfrm>
            <a:off x="6324442" y="4525169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Gains are registers. The CPU, or a hardware default, can retune live.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531820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PID ALGORITHM DETAILS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130300"/>
            <a:ext cx="10972526" cy="414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9585" y="1710234"/>
            <a:ext cx="1158211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250" i="1" dirty="0">
                <a:solidFill>
                  <a:schemeClr val="bg1"/>
                </a:solidFill>
                <a:latin typeface="JetBrains Mono" panose="020B0604020202020204" charset="0"/>
                <a:ea typeface="Consolas" pitchFamily="34" charset="-122"/>
                <a:cs typeface="JetBrains Mono" panose="020B0604020202020204" charset="0"/>
              </a:rPr>
              <a:t>        </a:t>
            </a:r>
            <a:r>
              <a:rPr lang="en-US" sz="1300" dirty="0">
                <a:solidFill>
                  <a:schemeClr val="bg1"/>
                </a:solidFill>
                <a:latin typeface="JetBrains Mono" panose="020B0604020202020204" charset="0"/>
                <a:ea typeface="JetBrains Mono" pitchFamily="34" charset="-122"/>
                <a:cs typeface="JetBrains Mono" panose="020B0604020202020204" charset="0"/>
              </a:rPr>
              <a:t>, so </a:t>
            </a:r>
            <a:r>
              <a:rPr lang="en-IN" sz="1400" dirty="0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(constant setpoint)</a:t>
            </a:r>
            <a:r>
              <a:rPr lang="en-US" sz="1250" i="1" dirty="0">
                <a:solidFill>
                  <a:schemeClr val="bg1"/>
                </a:solidFill>
                <a:latin typeface="JetBrains Mono" panose="020B0604020202020204" charset="0"/>
                <a:ea typeface="Consolas" pitchFamily="34" charset="-122"/>
                <a:cs typeface="JetBrains Mono" panose="020B0604020202020204" charset="0"/>
              </a:rPr>
              <a:t> </a:t>
            </a:r>
            <a:endParaRPr lang="en-US" sz="1300" dirty="0">
              <a:solidFill>
                <a:schemeClr val="bg1"/>
              </a:solidFill>
              <a:latin typeface="JetBrains Mono" panose="020B0604020202020204" charset="0"/>
              <a:cs typeface="JetBrains Mono" panose="020B060402020202020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1741984"/>
            <a:ext cx="1419983" cy="206276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136" y="1739645"/>
            <a:ext cx="1106764" cy="23931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585" y="2114649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ANTI-WINDUP · TWO RULES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609585" y="2395934"/>
            <a:ext cx="5257668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Integrator clamped to ±limit.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Integrator frozen while output is saturated in the same direction as the error.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09585" y="4300934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DISABLE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609585" y="4537770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Safety withdraws run-enable: output = 0, integrator cleared, previous error reset. No derivative kick on re-enable.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6324442" y="2114649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WORKED CHECKS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324442" y="2395934"/>
            <a:ext cx="5257668" cy="1476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Kp = 1.0, e = 0.1 gives u = 0.1.</a:t>
            </a:r>
            <a:endParaRPr lang="en-US" sz="1500" dirty="0"/>
          </a:p>
          <a:p>
            <a:pPr marL="304800" indent="-304800">
              <a:buSzPct val="100000"/>
              <a:buChar char="•"/>
            </a:pPr>
            <a:r>
              <a:rPr lang="en-IN" sz="1600" dirty="0" err="1">
                <a:solidFill>
                  <a:schemeClr val="bg1"/>
                </a:solidFill>
              </a:rPr>
              <a:t>Kp</a:t>
            </a:r>
            <a:r>
              <a:rPr lang="en-IN" sz="1600" dirty="0">
                <a:solidFill>
                  <a:schemeClr val="bg1"/>
                </a:solidFill>
              </a:rPr>
              <a:t> = 8.0, e = 0.2, limit 0.25 → saturates at 0.25 and raises the flag.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 step of 65 counts per sample gives 650 after 10 samples.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324442" y="3980259"/>
            <a:ext cx="5257668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800"/>
              </a:spcAft>
              <a:buNone/>
            </a:pPr>
            <a:endParaRPr lang="en-US" sz="10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FIXED-POINT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324442" y="4542830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Q16.16; 64-bit intermediate product; arithmetic shift (floor); saturating sum.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PWM GENERATOR</a:t>
            </a:r>
            <a:endParaRPr lang="en-US" sz="2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0BAB5A-12A2-BE09-6969-33BD56016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5603"/>
            <a:ext cx="12192000" cy="482679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26AE-FD5E-DDD2-BD69-9435DB55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9FBF1D-C80E-37F1-BA59-8AEE51C173C8}"/>
              </a:ext>
            </a:extLst>
          </p:cNvPr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PWM GENERATOR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1B0253F-0CE8-DCCD-959D-B4E5A8F010C9}"/>
              </a:ext>
            </a:extLst>
          </p:cNvPr>
          <p:cNvSpPr/>
          <p:nvPr/>
        </p:nvSpPr>
        <p:spPr>
          <a:xfrm>
            <a:off x="609585" y="1149350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 kHz: period 2500 cycles at 50 MHz, within the BTS7960 limit [R9], above audible range.</a:t>
            </a:r>
            <a:endParaRPr lang="en-US" sz="13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85E46D-3B7D-7514-6A3D-CECC64133857}"/>
              </a:ext>
            </a:extLst>
          </p:cNvPr>
          <p:cNvSpPr/>
          <p:nvPr/>
        </p:nvSpPr>
        <p:spPr>
          <a:xfrm>
            <a:off x="609585" y="1735931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Duty: </a:t>
            </a:r>
            <a:r>
              <a:rPr lang="en-US" sz="1250" i="1" dirty="0">
                <a:solidFill>
                  <a:srgbClr val="F2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         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from a small multiplier. Duty and direction update only at the period boundary, with no runt pulses.</a:t>
            </a:r>
            <a:endParaRPr lang="en-US" sz="13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ACDD03D-B14F-04F7-1E98-87CD85D79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989" y="1767681"/>
            <a:ext cx="1407085" cy="19357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DC566C3D-1297-9AAF-F064-D6C067A78D65}"/>
              </a:ext>
            </a:extLst>
          </p:cNvPr>
          <p:cNvSpPr/>
          <p:nvPr/>
        </p:nvSpPr>
        <p:spPr>
          <a:xfrm>
            <a:off x="609585" y="2561828"/>
            <a:ext cx="5257668" cy="1891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Positive to RPWM; negative to LPWM; never both. Dead-time: 250 cycles (5 µs) on every direction change.</a:t>
            </a:r>
            <a:endParaRPr lang="en-US" sz="13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Shaping: max-duty clamp, default 0.9 for first tests; optional slew limiter; steering offset; per-motor gain.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Safety gating: enable low gives outputs low within 2 cycles.</a:t>
            </a: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610088B-CFF8-3B82-1754-0A9B61ECEC8B}"/>
              </a:ext>
            </a:extLst>
          </p:cNvPr>
          <p:cNvSpPr/>
          <p:nvPr/>
        </p:nvSpPr>
        <p:spPr>
          <a:xfrm>
            <a:off x="6324442" y="114935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WAVEFORM CHECKS</a:t>
            </a:r>
            <a:endParaRPr lang="en-US" sz="10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5C4FD68-14E8-12D4-1F23-79452C771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1430635"/>
            <a:ext cx="5257668" cy="304800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98A7AFA7-4F88-96AE-E88D-92D18F0271B0}"/>
              </a:ext>
            </a:extLst>
          </p:cNvPr>
          <p:cNvSpPr/>
          <p:nvPr/>
        </p:nvSpPr>
        <p:spPr>
          <a:xfrm>
            <a:off x="6324442" y="4586585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Verification: assert RPWM and LPWM are never high together. Duty checks: command +0.5 gives 1250/2500 counts.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62399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MOTOR INTERFACE AND BTS7960 DRIVER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149350"/>
            <a:ext cx="3657509" cy="1197372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4" name="Text 2"/>
          <p:cNvSpPr/>
          <p:nvPr/>
        </p:nvSpPr>
        <p:spPr>
          <a:xfrm>
            <a:off x="761981" y="1301750"/>
            <a:ext cx="335271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FPGA pins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1981" y="1715691"/>
            <a:ext cx="335271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RPWM · LPWM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R_EN · L_EN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67093" y="1149350"/>
            <a:ext cx="3657509" cy="1197372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7" name="Text 5"/>
          <p:cNvSpPr/>
          <p:nvPr/>
        </p:nvSpPr>
        <p:spPr>
          <a:xfrm>
            <a:off x="4419489" y="1301750"/>
            <a:ext cx="335271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BTS7960B module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19489" y="1715691"/>
            <a:ext cx="350511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PWM → driver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24602" y="1149350"/>
            <a:ext cx="3657509" cy="1197372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10" name="Text 8"/>
          <p:cNvSpPr/>
          <p:nvPr/>
        </p:nvSpPr>
        <p:spPr>
          <a:xfrm>
            <a:off x="8076998" y="1301750"/>
            <a:ext cx="3352716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Motor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076998" y="1715691"/>
            <a:ext cx="350511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One module per motor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585" y="2511822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MAPPING AND ENABLE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9585" y="2793107"/>
            <a:ext cx="5257668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 interface maps PWM channels to driver pins. Per motor: RPWM, LPWM, R_EN, L_EN. Direction-invert bits absorb wiring differences; enable is gated by the safety monitor.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9585" y="385832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DRIVER [R9]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9585" y="4139605"/>
            <a:ext cx="5257668" cy="130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BTS7960 half-bridge: two modules, one per motor. Integrated driver; PWM up to 25 kHz; typical current limit about 43 A.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Operating supply 5.5 to 27.5 V. P-channel high-side switch, so no charge pump needed.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4442" y="2511822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BUILT-IN PROTECTIONS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24442" y="2793107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Dead-time generation; over-temperature; over/under-voltage; over-current; short circuit.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4442" y="3805138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BRING-UP DISCIPLINE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24442" y="4105473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Logic only first; check waveforms. Motors on a stand, wheels off the ground. Common ground. Verify the module's logic-level compatibility before connecting.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SAFETY AND FAULT MONITOR: STATE MACHINE</a:t>
            </a:r>
            <a:endParaRPr lang="en-US" sz="2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EBCD3BE-339A-9D9C-D2E0-6D2D266C3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5200"/>
            <a:ext cx="12192000" cy="520779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0685-06A7-6528-13ED-19CD823E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214D38-BBD7-8CC7-4304-2B2899A021AE}"/>
              </a:ext>
            </a:extLst>
          </p:cNvPr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SAFETY AND FAULT MONITOR: STATE MACHINE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82B7E20-5A9D-E44E-D182-B96D9489BC23}"/>
              </a:ext>
            </a:extLst>
          </p:cNvPr>
          <p:cNvSpPr/>
          <p:nvPr/>
        </p:nvSpPr>
        <p:spPr>
          <a:xfrm>
            <a:off x="609585" y="114935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30A010-B801-4B3D-A5D5-B9CD7B67299A}"/>
              </a:ext>
            </a:extLst>
          </p:cNvPr>
          <p:cNvSpPr/>
          <p:nvPr/>
        </p:nvSpPr>
        <p:spPr>
          <a:xfrm>
            <a:off x="609585" y="3063776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D85029-DE2D-2259-6BD9-B1E143D94923}"/>
              </a:ext>
            </a:extLst>
          </p:cNvPr>
          <p:cNvSpPr/>
          <p:nvPr/>
        </p:nvSpPr>
        <p:spPr>
          <a:xfrm>
            <a:off x="609585" y="1308100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DISARMED</a:t>
            </a:r>
            <a:endParaRPr lang="en-US" sz="2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556D0DC-F941-B7B6-14D3-31AD9FEF4C16}"/>
              </a:ext>
            </a:extLst>
          </p:cNvPr>
          <p:cNvSpPr/>
          <p:nvPr/>
        </p:nvSpPr>
        <p:spPr>
          <a:xfrm>
            <a:off x="609585" y="1788120"/>
            <a:ext cx="36575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Reset: motors off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5EE0AA-B7B6-8246-E545-0681E7466932}"/>
              </a:ext>
            </a:extLst>
          </p:cNvPr>
          <p:cNvSpPr/>
          <p:nvPr/>
        </p:nvSpPr>
        <p:spPr>
          <a:xfrm>
            <a:off x="609585" y="2082701"/>
            <a:ext cx="34289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ARMED: arm request + calibration done; no live or stored faults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9A206A-D420-805A-2746-ABA20255020D}"/>
              </a:ext>
            </a:extLst>
          </p:cNvPr>
          <p:cNvSpPr/>
          <p:nvPr/>
        </p:nvSpPr>
        <p:spPr>
          <a:xfrm>
            <a:off x="4495688" y="1308100"/>
            <a:ext cx="3200320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ARMED</a:t>
            </a:r>
            <a:endParaRPr lang="en-US" sz="2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AE7775-2A92-0DE5-174B-2A3010B74D06}"/>
              </a:ext>
            </a:extLst>
          </p:cNvPr>
          <p:cNvSpPr/>
          <p:nvPr/>
        </p:nvSpPr>
        <p:spPr>
          <a:xfrm>
            <a:off x="4495688" y="1788120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Motors allowed</a:t>
            </a:r>
            <a:endParaRPr lang="en-US" sz="10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CD8C082-7BD1-3215-4738-C147E1082ADD}"/>
              </a:ext>
            </a:extLst>
          </p:cNvPr>
          <p:cNvSpPr/>
          <p:nvPr/>
        </p:nvSpPr>
        <p:spPr>
          <a:xfrm>
            <a:off x="4495688" y="2082701"/>
            <a:ext cx="342891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FAULT: any fault</a:t>
            </a:r>
            <a:endParaRPr lang="en-US" sz="15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1E63AF1-296E-4C3F-E186-A7C57BE405C6}"/>
              </a:ext>
            </a:extLst>
          </p:cNvPr>
          <p:cNvSpPr/>
          <p:nvPr/>
        </p:nvSpPr>
        <p:spPr>
          <a:xfrm>
            <a:off x="8153196" y="1308100"/>
            <a:ext cx="34289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FAULT</a:t>
            </a:r>
            <a:endParaRPr lang="en-US" sz="2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5ECF01A-0DB5-A15B-9A2F-1D73958B7C9D}"/>
              </a:ext>
            </a:extLst>
          </p:cNvPr>
          <p:cNvSpPr/>
          <p:nvPr/>
        </p:nvSpPr>
        <p:spPr>
          <a:xfrm>
            <a:off x="8153196" y="1788120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Flag latched</a:t>
            </a:r>
            <a:endParaRPr lang="en-US" sz="10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D900C10-066E-CA71-E0D0-82B068F31003}"/>
              </a:ext>
            </a:extLst>
          </p:cNvPr>
          <p:cNvSpPr/>
          <p:nvPr/>
        </p:nvSpPr>
        <p:spPr>
          <a:xfrm>
            <a:off x="8153196" y="2082701"/>
            <a:ext cx="342891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ARMED: clear flags, condition gone, arm request toggled low to high</a:t>
            </a:r>
            <a:endParaRPr lang="en-US" sz="15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F0CF5B-227C-2B62-CFCC-46CF59207064}"/>
              </a:ext>
            </a:extLst>
          </p:cNvPr>
          <p:cNvSpPr/>
          <p:nvPr/>
        </p:nvSpPr>
        <p:spPr>
          <a:xfrm>
            <a:off x="609585" y="3235226"/>
            <a:ext cx="5257668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Motors are allowed only in ARMED. Fail-safe default after reset: motors off; turning them off never needs software.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Arming needs arm request, calibration done, no live fault, no stored fault flags.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Any condition drops the motor enable within at most 2 clock cycles (40 ns at 50 MHz); the flag is latched.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7F26BA-ABDF-B47F-A4D4-700F65AC8BAA}"/>
              </a:ext>
            </a:extLst>
          </p:cNvPr>
          <p:cNvSpPr/>
          <p:nvPr/>
        </p:nvSpPr>
        <p:spPr>
          <a:xfrm>
            <a:off x="6324442" y="3235226"/>
            <a:ext cx="5257668" cy="1212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Re-arming is deliberate. The robot never restarts by itself.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E-stop is honoured from any state; the optional watchdog detects a stalled CPU.</a:t>
            </a:r>
            <a:endParaRPr lang="en-US" sz="15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ED742B5-9634-7387-0536-C0708207A2CF}"/>
              </a:ext>
            </a:extLst>
          </p:cNvPr>
          <p:cNvSpPr/>
          <p:nvPr/>
        </p:nvSpPr>
        <p:spPr>
          <a:xfrm>
            <a:off x="4260743" y="1308100"/>
            <a:ext cx="12700" cy="1603276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C793C78-3146-88B9-DE7C-A97EC53C9895}"/>
              </a:ext>
            </a:extLst>
          </p:cNvPr>
          <p:cNvSpPr/>
          <p:nvPr/>
        </p:nvSpPr>
        <p:spPr>
          <a:xfrm>
            <a:off x="7918252" y="1308100"/>
            <a:ext cx="12700" cy="1603276"/>
          </a:xfrm>
          <a:prstGeom prst="rect">
            <a:avLst/>
          </a:prstGeom>
          <a:solidFill>
            <a:srgbClr val="4A5158"/>
          </a:solidFill>
          <a:ln/>
        </p:spPr>
      </p:sp>
    </p:spTree>
    <p:extLst>
      <p:ext uri="{BB962C8B-B14F-4D97-AF65-F5344CB8AC3E}">
        <p14:creationId xmlns:p14="http://schemas.microsoft.com/office/powerpoint/2010/main" val="3642473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SAFETY MONITOR: FAULTS AND RESPONSES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969858"/>
              </p:ext>
            </p:extLst>
          </p:nvPr>
        </p:nvGraphicFramePr>
        <p:xfrm>
          <a:off x="609585" y="1149350"/>
          <a:ext cx="10972526" cy="3203495"/>
        </p:xfrm>
        <a:graphic>
          <a:graphicData uri="http://schemas.openxmlformats.org/drawingml/2006/table">
            <a:tbl>
              <a:tblPr/>
              <a:tblGrid>
                <a:gridCol w="2304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3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FAULT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CONDITION (DEFAULTS, ALL PROGRAMMABLE)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RESPONSE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Tilt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cs typeface="JetBrains Mono" panose="020B0604020202020204" charset="0"/>
                        </a:rPr>
                        <a:t>|θ| &gt; 0.6 rad (≈ 34°) </a:t>
                      </a: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on 3 consecutive samples</a:t>
                      </a:r>
                      <a:endParaRPr lang="en-US" sz="1250" dirty="0">
                        <a:solidFill>
                          <a:schemeClr val="bg1"/>
                        </a:solidFill>
                        <a:latin typeface="JetBrains Mono" panose="020B0604020202020204" charset="0"/>
                        <a:ea typeface="math" charset="0"/>
                        <a:cs typeface="JetBrains Mono" panose="020B0604020202020204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latch, motors off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Sensor timeout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no sample for 8 ticks (about 16 ms)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latch, motors off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I²C error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3 consecutive failed transactions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latch, motors off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PID saturation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output saturated for 256 samples (about 0.5 s)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latch, motors off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Watchdog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no CPU kick for 100 ticks (about 195 ms), if enabled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latch, motors off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27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E-stop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external button (active-low)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JetBrains Mono" panose="020B0604020202020204" charset="0"/>
                          <a:ea typeface="JetBrains Mono" pitchFamily="34" charset="-122"/>
                          <a:cs typeface="JetBrains Mono" panose="020B0604020202020204" charset="0"/>
                        </a:rPr>
                        <a:t>immediate, motors off</a:t>
                      </a:r>
                      <a:endParaRPr lang="en-US" sz="1300" dirty="0">
                        <a:solidFill>
                          <a:schemeClr val="bg1"/>
                        </a:solidFill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88898" marB="888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4518025"/>
            <a:ext cx="10972526" cy="643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25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Fault flags readable by firmware; interrupt informs the CPU; thresholds are registers.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Tests: every fault alone, two at a time, glitch rejection (a 2-sample spike must not trip), re-arm sequence.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MEMORY SUBSYSTEM AND BUS INTERCONNECT</a:t>
            </a:r>
            <a:endParaRPr lang="en-US" sz="2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8833EE2-108D-DFFC-DE88-744AA09A9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24" y="965200"/>
            <a:ext cx="11817752" cy="553957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4AC5A-DA3A-0275-E4EB-E4BF3279A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D240E0-FDEC-BC55-1AB0-9CE00C52ED91}"/>
              </a:ext>
            </a:extLst>
          </p:cNvPr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MEMORY SUBSYSTEM AND BUS INTERCONNECT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3AC2766-2849-4BD5-74B9-CF369631388A}"/>
              </a:ext>
            </a:extLst>
          </p:cNvPr>
          <p:cNvSpPr/>
          <p:nvPr/>
        </p:nvSpPr>
        <p:spPr>
          <a:xfrm>
            <a:off x="609585" y="114935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ACDDF35-EEB7-268A-0ADA-F3946168D246}"/>
              </a:ext>
            </a:extLst>
          </p:cNvPr>
          <p:cNvSpPr/>
          <p:nvPr/>
        </p:nvSpPr>
        <p:spPr>
          <a:xfrm>
            <a:off x="609585" y="2294235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3578054-DA46-7D89-21AE-1734807BFEB2}"/>
              </a:ext>
            </a:extLst>
          </p:cNvPr>
          <p:cNvSpPr/>
          <p:nvPr/>
        </p:nvSpPr>
        <p:spPr>
          <a:xfrm>
            <a:off x="609585" y="1308100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INSTRUCTION FETCH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44B7013-5BA1-0568-F3BA-81FBD18E2BE4}"/>
              </a:ext>
            </a:extLst>
          </p:cNvPr>
          <p:cNvSpPr/>
          <p:nvPr/>
        </p:nvSpPr>
        <p:spPr>
          <a:xfrm>
            <a:off x="609585" y="1589385"/>
            <a:ext cx="548626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Ibex instruction port → ROM (8 KB)</a:t>
            </a:r>
            <a:endParaRPr lang="en-US" sz="15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3B32705-F0AD-3394-FAEB-448C4713AF49}"/>
              </a:ext>
            </a:extLst>
          </p:cNvPr>
          <p:cNvSpPr/>
          <p:nvPr/>
        </p:nvSpPr>
        <p:spPr>
          <a:xfrm>
            <a:off x="6324442" y="130810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PORT</a:t>
            </a:r>
            <a:endParaRPr lang="en-US" sz="10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0AB91C-F96A-8B56-FE5B-B722438937F0}"/>
              </a:ext>
            </a:extLst>
          </p:cNvPr>
          <p:cNvSpPr/>
          <p:nvPr/>
        </p:nvSpPr>
        <p:spPr>
          <a:xfrm>
            <a:off x="6324442" y="1589385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Ibex data port → Address decoder → ROM (8 KB), RAM (4 KB) and six register banks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CAE964-F14C-756D-B2A0-508049D3BF76}"/>
              </a:ext>
            </a:extLst>
          </p:cNvPr>
          <p:cNvSpPr/>
          <p:nvPr/>
        </p:nvSpPr>
        <p:spPr>
          <a:xfrm>
            <a:off x="609585" y="2465685"/>
            <a:ext cx="5257668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ROM (8 KB): firmware image; two read ports (instruction fetch and constants), loaded from the compiled program.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RAM (4 KB): stack and variables; byte-writable.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Bus: Ibex instruction port to ROM; Ibex data port to address decoder to ROM, RAM and six register banks.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9F99876-2B27-04A3-1B24-DDF27ED37BE0}"/>
              </a:ext>
            </a:extLst>
          </p:cNvPr>
          <p:cNvSpPr/>
          <p:nvPr/>
        </p:nvSpPr>
        <p:spPr>
          <a:xfrm>
            <a:off x="6324442" y="2465685"/>
            <a:ext cx="5257668" cy="242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Protocol: request granted in the same cycle; data returns one cycle later (zero wait states); writes are acknowledged too.</a:t>
            </a:r>
            <a:endParaRPr lang="en-US" sz="15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Safety net: an unmapped address returns an error response with no side effect, so the CPU never hangs on a bad address.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Sizes are parameters, kept small on purpose (layout-friendly).</a:t>
            </a:r>
            <a:endParaRPr lang="en-US" sz="15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3A5A57A-BF2A-2E62-635F-6B68BE51F212}"/>
              </a:ext>
            </a:extLst>
          </p:cNvPr>
          <p:cNvSpPr/>
          <p:nvPr/>
        </p:nvSpPr>
        <p:spPr>
          <a:xfrm>
            <a:off x="6089498" y="1308100"/>
            <a:ext cx="12700" cy="833735"/>
          </a:xfrm>
          <a:prstGeom prst="rect">
            <a:avLst/>
          </a:prstGeom>
          <a:solidFill>
            <a:srgbClr val="4A5158"/>
          </a:solidFill>
          <a:ln/>
        </p:spPr>
      </p:sp>
    </p:spTree>
    <p:extLst>
      <p:ext uri="{BB962C8B-B14F-4D97-AF65-F5344CB8AC3E}">
        <p14:creationId xmlns:p14="http://schemas.microsoft.com/office/powerpoint/2010/main" val="4276980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MEMORY MAP, REGISTER BANKS AND TOP LEVEL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49350"/>
          <a:ext cx="5257668" cy="3582504"/>
        </p:xfrm>
        <a:graphic>
          <a:graphicData uri="http://schemas.openxmlformats.org/drawingml/2006/table">
            <a:tbl>
              <a:tblPr/>
              <a:tblGrid>
                <a:gridCol w="1945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REGION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BASE ADDRESS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SIZE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0x0000_0000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Timer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0x1000_0000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I²C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0x1000_1000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Sensor pipeline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0x1000_2000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PID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0x1000_3000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PWM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0x1000_4000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Safety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0x1000_5000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RAM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0x2000_0000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KB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76198" marR="76198" marT="76198" marB="761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324442" y="1149350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REGISTER CONVENTIONS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324442" y="1430635"/>
            <a:ext cx="5257668" cy="130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bank starts with a read-only ID word, e.g. "TIM", "I2C", "PID", so firmware can prove the bus works.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Write-1-to-clear status bits; self-clearing command bits; defined reset values.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24442" y="2843113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TOP LEVEL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24442" y="3124398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highlight>
                  <a:srgbClr val="1C1F2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ecu_soc_top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wires all blocks. A </a:t>
            </a:r>
            <a:r>
              <a:rPr lang="en-US" sz="1300" dirty="0">
                <a:solidFill>
                  <a:srgbClr val="F2F0E8"/>
                </a:solidFill>
                <a:highlight>
                  <a:srgbClr val="1C1F2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HW_ONLY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parameter runs the hardware loop without the CPU for early FPGA tests.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24442" y="3950295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FPGA WRAPPER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324442" y="4231580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Clocks, input synchronisers, open-drain I²C buffers, LEDs.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5086-3951-9FD5-F170-2594C21A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78AAFBD-C8F3-97A9-AE4F-646A7E4CB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9839"/>
            <a:ext cx="12192000" cy="54602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998A6D-C2B1-D373-B302-4DBB84961EBD}"/>
              </a:ext>
            </a:extLst>
          </p:cNvPr>
          <p:cNvSpPr txBox="1"/>
          <p:nvPr/>
        </p:nvSpPr>
        <p:spPr>
          <a:xfrm>
            <a:off x="393538" y="381968"/>
            <a:ext cx="75466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JetBrains Mono SemiBold" panose="020B0604020202020204" charset="0"/>
                <a:cs typeface="JetBrains Mono SemiBold" panose="020B0604020202020204" charset="0"/>
              </a:rPr>
              <a:t>SOC SYSTEM HIERARCHY</a:t>
            </a:r>
          </a:p>
        </p:txBody>
      </p:sp>
    </p:spTree>
    <p:extLst>
      <p:ext uri="{BB962C8B-B14F-4D97-AF65-F5344CB8AC3E}">
        <p14:creationId xmlns:p14="http://schemas.microsoft.com/office/powerpoint/2010/main" val="1908015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4216E-81A5-1796-B541-8A6904219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DD5E3E-1DA5-F241-6ECF-B632696627AC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D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A01990D-EC96-1C4B-C4DC-786788FD1034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EDEB55-3FDF-A48E-A0E5-4FEE06D740F2}"/>
              </a:ext>
            </a:extLst>
          </p:cNvPr>
          <p:cNvSpPr/>
          <p:nvPr/>
        </p:nvSpPr>
        <p:spPr>
          <a:xfrm>
            <a:off x="609585" y="282632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THE CPU: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IBEX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12324525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FAAE-A6C3-6D2C-2CF7-995416C0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92BD97-9BB7-AF6B-904B-AC527205F13D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CPU / HARDWARE BOUNDARY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62B18C-399A-DDEF-184B-9B781F3C751F}"/>
              </a:ext>
            </a:extLst>
          </p:cNvPr>
          <p:cNvSpPr/>
          <p:nvPr/>
        </p:nvSpPr>
        <p:spPr>
          <a:xfrm>
            <a:off x="609585" y="855960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kern="100" spc="216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ROLE OF THE CPU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132A27-3630-91DF-7D29-B36959DD89A4}"/>
              </a:ext>
            </a:extLst>
          </p:cNvPr>
          <p:cNvSpPr/>
          <p:nvPr/>
        </p:nvSpPr>
        <p:spPr>
          <a:xfrm>
            <a:off x="609585" y="1497310"/>
            <a:ext cx="6583495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SUPERVISOR LANE / CPU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CD9ED5-016D-7ED6-C302-5C4FF3BD15BC}"/>
              </a:ext>
            </a:extLst>
          </p:cNvPr>
          <p:cNvSpPr/>
          <p:nvPr/>
        </p:nvSpPr>
        <p:spPr>
          <a:xfrm>
            <a:off x="609585" y="1778595"/>
            <a:ext cx="6354901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Boot and self-check: read bank IDs.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 gains, limits, filter and timer settings.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 calibration; arm/disarm.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Watch status and faults; log telemetry.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 timer and fault interrupts.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Later, run higher-level behaviour.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39318A-B444-3027-4D12-F66A78C1CB0E}"/>
              </a:ext>
            </a:extLst>
          </p:cNvPr>
          <p:cNvSpPr/>
          <p:nvPr/>
        </p:nvSpPr>
        <p:spPr>
          <a:xfrm>
            <a:off x="7421674" y="1497310"/>
            <a:ext cx="4160436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REAL-TIME LANE / HARDWARE</a:t>
            </a:r>
            <a:endParaRPr lang="en-US" sz="10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B01AAB-D167-07D4-4F36-AE18529743C7}"/>
              </a:ext>
            </a:extLst>
          </p:cNvPr>
          <p:cNvSpPr/>
          <p:nvPr/>
        </p:nvSpPr>
        <p:spPr>
          <a:xfrm>
            <a:off x="7421674" y="1905595"/>
            <a:ext cx="416043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sensor → compute PID → generate PWM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FB115F-959C-C1B9-88EF-43201E7B6714}"/>
              </a:ext>
            </a:extLst>
          </p:cNvPr>
          <p:cNvSpPr/>
          <p:nvPr/>
        </p:nvSpPr>
        <p:spPr>
          <a:xfrm>
            <a:off x="7421674" y="2712045"/>
            <a:ext cx="416043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Switch off motors on a fault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007092-FF03-332E-698B-538EF53750D1}"/>
              </a:ext>
            </a:extLst>
          </p:cNvPr>
          <p:cNvSpPr/>
          <p:nvPr/>
        </p:nvSpPr>
        <p:spPr>
          <a:xfrm>
            <a:off x="7421674" y="3223220"/>
            <a:ext cx="4160436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CPU does not perform these tasks.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A40CE7D-AEA8-0FBE-D8FA-FAEE519E951C}"/>
              </a:ext>
            </a:extLst>
          </p:cNvPr>
          <p:cNvSpPr/>
          <p:nvPr/>
        </p:nvSpPr>
        <p:spPr>
          <a:xfrm>
            <a:off x="609585" y="5617369"/>
            <a:ext cx="10972526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CPU can be slow, busy or even crash without the balance loop losing its timing. The watchdog notices a stalled CPU.</a:t>
            </a:r>
            <a:endParaRPr lang="en-US" sz="13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2B59517-3E6B-5ABF-E19D-62717CCBB5FD}"/>
              </a:ext>
            </a:extLst>
          </p:cNvPr>
          <p:cNvSpPr/>
          <p:nvPr/>
        </p:nvSpPr>
        <p:spPr>
          <a:xfrm>
            <a:off x="7186730" y="1497310"/>
            <a:ext cx="12700" cy="3954959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065ECE-EBFC-FFFA-B7D9-66EC4D0F080E}"/>
              </a:ext>
            </a:extLst>
          </p:cNvPr>
          <p:cNvSpPr/>
          <p:nvPr/>
        </p:nvSpPr>
        <p:spPr>
          <a:xfrm>
            <a:off x="7421674" y="2578695"/>
            <a:ext cx="4160436" cy="12700"/>
          </a:xfrm>
          <a:prstGeom prst="rect">
            <a:avLst/>
          </a:prstGeom>
          <a:solidFill>
            <a:srgbClr val="4A5158"/>
          </a:solidFill>
          <a:ln/>
        </p:spPr>
      </p:sp>
    </p:spTree>
    <p:extLst>
      <p:ext uri="{BB962C8B-B14F-4D97-AF65-F5344CB8AC3E}">
        <p14:creationId xmlns:p14="http://schemas.microsoft.com/office/powerpoint/2010/main" val="28545342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76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CORE SELECTION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45542"/>
            <a:ext cx="10972526" cy="343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700" kern="100" spc="163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CPU OPTIONS COMPARED AND OUR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585" y="1361777"/>
            <a:ext cx="10972526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Criteria: open licence; readable SystemVerilog accepted by Vivado and Cadence tools; active maintenance; verification maturity; small and simple; clean memory interface; FPGA- and ASIC-friendly register-file options; RISC-V toolchain support.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99680"/>
          <a:ext cx="10972525" cy="4097038"/>
        </p:xfrm>
        <a:graphic>
          <a:graphicData uri="http://schemas.openxmlformats.org/drawingml/2006/table">
            <a:tbl>
              <a:tblPr/>
              <a:tblGrid>
                <a:gridCol w="1958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4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7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49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0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61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87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CORE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87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STYLE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87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LANGUAGE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87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REMARK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Ibex (lowRISC), chosen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RV32IMC, 2-stage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SystemVerilog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open, actively maintained, well documented [R8]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CV32E40P (OpenHW)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RV32IMC(F), 4-stage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SystemVerilog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capable, but more complex than a supervisor needs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SCR1 (Syntacore)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SystemVerilog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viable, smaller ecosystem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PicoRV32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RV32IMC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Verilog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compact, but development has wound down; check status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NEORV32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VHDL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mixed-language complicates the Cadence flow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MicroBlaze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proprietary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FPGA-vendor IP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tied to the FPGA vendor; cannot move into an RTL-to-GDSII flow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13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Arm Cortex-M class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Arm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licensed IP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closed and licensed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63498" marB="634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6451302"/>
            <a:ext cx="10972526" cy="4151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5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Decision:</a:t>
            </a:r>
            <a:r>
              <a:rPr lang="en-US" sz="145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Ibex, "small" configuration.</a:t>
            </a:r>
            <a:endParaRPr lang="en-US" sz="14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IBEX / LOWRISC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IBEX: OVERVIEW AND SPECIFICATIONS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39571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The core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1875730"/>
            <a:ext cx="5257668" cy="1783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Small, efficient 32-bit, in-order RISC-V core; 2-stage pipeline; RV32IMC; SystemVerilog; heavily parametrisable [R8].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Originated as "Zero-riscy" in the PULP project. Now maintained by lowRISC; production-quality, used in OpenTitan. Documentation on ReadTheDocs; Apache-2.0 licence.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585" y="382399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Features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585" y="4304010"/>
            <a:ext cx="5257668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Machine-mode privilege; timer/external/software interrupts; 15 fast interrupts; non-maskable interrupt; simple request/grant memory interfaces.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24442" y="1395710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RV32IMC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24442" y="1875730"/>
            <a:ext cx="5257668" cy="2076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RV32: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32-bit RISC-V, 32-bit addresses and registers.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base integer set, 32 registers x0 to x31.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multiply and divide.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compressed 16-bit instructions, smaller code.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24442" y="4487763"/>
            <a:ext cx="525766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PUBLISHED "SMALL" CONFIGURATION [R8]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24442" y="4673798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About 2.47 CoreMark/MHz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324442" y="5058569"/>
            <a:ext cx="525766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00" dirty="0">
                <a:solidFill>
                  <a:schemeClr val="bg1"/>
                </a:solidFill>
                <a:latin typeface="JetBrains Mono" panose="020B0604020202020204" charset="0"/>
                <a:ea typeface="JetBrains Mono" pitchFamily="34" charset="-122"/>
                <a:cs typeface="JetBrains Mono" panose="020B0604020202020204" charset="0"/>
              </a:rPr>
              <a:t>About </a:t>
            </a:r>
            <a:r>
              <a:rPr lang="en-IN" sz="1400" dirty="0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24 </a:t>
            </a:r>
            <a:r>
              <a:rPr lang="en-IN" sz="1400" dirty="0" err="1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kGE</a:t>
            </a:r>
            <a:r>
              <a:rPr lang="en-IN" sz="1400" dirty="0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 (commercial estimate); ≈ 26–27 </a:t>
            </a:r>
            <a:r>
              <a:rPr lang="en-IN" sz="1400" dirty="0" err="1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kGE</a:t>
            </a:r>
            <a:r>
              <a:rPr lang="en-IN" sz="1400" dirty="0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 (</a:t>
            </a:r>
            <a:r>
              <a:rPr lang="en-IN" sz="1400" dirty="0" err="1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Yosys</a:t>
            </a:r>
            <a:r>
              <a:rPr lang="en-IN" sz="1400" dirty="0">
                <a:solidFill>
                  <a:schemeClr val="bg1"/>
                </a:solidFill>
                <a:latin typeface="JetBrains Mono" panose="020B0604020202020204" charset="0"/>
                <a:cs typeface="JetBrains Mono" panose="020B0604020202020204" charset="0"/>
              </a:rPr>
              <a:t>, latch register file)</a:t>
            </a:r>
            <a:endParaRPr lang="en-US" sz="1300" dirty="0">
              <a:solidFill>
                <a:schemeClr val="bg1"/>
              </a:solidFill>
              <a:latin typeface="JetBrains Mono" panose="020B0604020202020204" charset="0"/>
              <a:cs typeface="JetBrains Mono" panose="020B060402020202020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89498" y="1395710"/>
            <a:ext cx="12700" cy="4852690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CONFIGURATION / PINNED RELEASE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THE IBEX "SMALL" CONFIGURATION IN DETAIL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395710"/>
            <a:ext cx="10972526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Same documentation: "micro" about 0.9 CoreMark/MHz (about 15 kGE); "maxperf" about 3.13 CoreMark/MHz (about 30 kGE) [R8]. Small is the balanced middle. We pin one release and copy the parameter set from Ibex's own ibex_configs.yaml.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02730"/>
          <a:ext cx="10972526" cy="3806533"/>
        </p:xfrm>
        <a:graphic>
          <a:graphicData uri="http://schemas.openxmlformats.org/drawingml/2006/table">
            <a:tbl>
              <a:tblPr/>
              <a:tblGrid>
                <a:gridCol w="241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08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PARAMETER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"SMALL" SETTING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WHY IT SUITS US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ISA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RV32IMC (RV32E off, 32 registers)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enough for firmware; compressed code saves ROM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Pipeline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 stages (fetch, decode/execute)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simple, easy to reason about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9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Multiplier/divider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RV32MFast, 3-cycle multiply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PID runs in hardware, no single-cycle multiply needed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Instruction cache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off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predictable timing, less area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9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Register file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flip-flop in the named config; FPGA/latch variants exist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flip-flop/FPGA version on the Arty; evaluate latch version for layout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54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Extras (PMP, bit-manipulation, branch-target ALU)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off in the small config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not needed for a supervisor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9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Performance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about 2.47 CoreMark/MHz, about 120 CoreMark at 50 MHz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plenty for configuration and monitoring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Area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about 24 to 27 kGE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keeps layout effort modest</a:t>
                      </a:r>
                      <a:endParaRPr lang="en-US" sz="11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88898" marR="88898" marT="50799" marB="50799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 / TWO-STAGE CORE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IBEX ARCHITECTURE AND BLOCK DIAGRAM</a:t>
            </a:r>
            <a:endParaRPr lang="en-US" sz="2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1C2979-797B-875F-5E6C-F216E517F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44" y="1143757"/>
            <a:ext cx="11582111" cy="524814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897A4-CEB5-0AFF-5C97-A1FDD908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083E99-82A7-0B39-1800-56FDD9CE9B4A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ARCHITECTURE / TWO-STAGE CORE</a:t>
            </a:r>
            <a:endParaRPr lang="en-US" sz="10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14A2D8-9040-5828-E23B-D649EB0D92F2}"/>
              </a:ext>
            </a:extLst>
          </p:cNvPr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IBEX ARCHITECTURE AND BLOCK DIAGRAM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89F0BDD-593E-24F1-46D2-58D2FEA07A02}"/>
              </a:ext>
            </a:extLst>
          </p:cNvPr>
          <p:cNvSpPr/>
          <p:nvPr/>
        </p:nvSpPr>
        <p:spPr>
          <a:xfrm>
            <a:off x="6324442" y="1395710"/>
            <a:ext cx="5257668" cy="374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IF:</a:t>
            </a: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instruction interface; program counter; prefetch buffer/FIFO; compressed-instruction expander. Prefetch fetches ahead.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ID/EX:</a:t>
            </a: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decoder turns bits into control signals; controller handles stall/flush and exceptions; operand muxes and forwarding; ALU for add, shift, logic and compare; multiplier/divider; load/store unit.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Decode and execute share one stage. Results write back to the register file, which holds 32 fast registers. ALU and mult-div do arithmetic.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LSU:</a:t>
            </a: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data interface; the only way the CPU reaches memory and our hardware registers.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CSRs:</a:t>
            </a: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machine-mode status, interrupt enable/pending, trap vector and counters; interrupt inputs enter here. CSRs handle interrupts, traps and counters.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5EFCE17-2885-E2BF-8DAC-0D1E04B2B1F8}"/>
              </a:ext>
            </a:extLst>
          </p:cNvPr>
          <p:cNvSpPr/>
          <p:nvPr/>
        </p:nvSpPr>
        <p:spPr>
          <a:xfrm>
            <a:off x="609585" y="1395710"/>
            <a:ext cx="5257668" cy="3359845"/>
          </a:xfrm>
          <a:prstGeom prst="roundRect">
            <a:avLst>
              <a:gd name="adj" fmla="val 1031"/>
            </a:avLst>
          </a:prstGeom>
          <a:noFill/>
          <a:ln w="12700">
            <a:solidFill>
              <a:srgbClr val="4A5158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873E029-3E6C-04EB-85B6-0818464CACE6}"/>
              </a:ext>
            </a:extLst>
          </p:cNvPr>
          <p:cNvSpPr/>
          <p:nvPr/>
        </p:nvSpPr>
        <p:spPr>
          <a:xfrm>
            <a:off x="774681" y="1560810"/>
            <a:ext cx="509257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IBEX_TOP</a:t>
            </a:r>
            <a:endParaRPr lang="en-US" sz="10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A7F0DEA-8602-4CB6-B60E-34487093B367}"/>
              </a:ext>
            </a:extLst>
          </p:cNvPr>
          <p:cNvSpPr/>
          <p:nvPr/>
        </p:nvSpPr>
        <p:spPr>
          <a:xfrm>
            <a:off x="789067" y="1908572"/>
            <a:ext cx="3539243" cy="2641699"/>
          </a:xfrm>
          <a:prstGeom prst="roundRect">
            <a:avLst>
              <a:gd name="adj" fmla="val 1311"/>
            </a:avLst>
          </a:prstGeom>
          <a:noFill/>
          <a:ln w="12700">
            <a:solidFill>
              <a:srgbClr val="4A515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7198A52-DA85-65C2-CCAF-210A042EB18F}"/>
              </a:ext>
            </a:extLst>
          </p:cNvPr>
          <p:cNvSpPr/>
          <p:nvPr/>
        </p:nvSpPr>
        <p:spPr>
          <a:xfrm>
            <a:off x="928763" y="2048272"/>
            <a:ext cx="386943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10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ibex_core</a:t>
            </a:r>
            <a:endParaRPr lang="en-US" sz="10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F035BD-CB56-F186-1E7A-4B282C4DD09D}"/>
              </a:ext>
            </a:extLst>
          </p:cNvPr>
          <p:cNvSpPr/>
          <p:nvPr/>
        </p:nvSpPr>
        <p:spPr>
          <a:xfrm>
            <a:off x="968549" y="2421533"/>
            <a:ext cx="3180179" cy="487263"/>
          </a:xfrm>
          <a:prstGeom prst="roundRect">
            <a:avLst>
              <a:gd name="adj" fmla="val 7106"/>
            </a:avLst>
          </a:prstGeom>
          <a:solidFill>
            <a:srgbClr val="1C1F22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DE58E6D-E602-0A82-EAA7-F0E8B692AAD8}"/>
              </a:ext>
            </a:extLst>
          </p:cNvPr>
          <p:cNvSpPr/>
          <p:nvPr/>
        </p:nvSpPr>
        <p:spPr>
          <a:xfrm>
            <a:off x="1070147" y="2523133"/>
            <a:ext cx="358656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F4547E4-CBDE-D261-2384-7A4F19FB678C}"/>
              </a:ext>
            </a:extLst>
          </p:cNvPr>
          <p:cNvSpPr/>
          <p:nvPr/>
        </p:nvSpPr>
        <p:spPr>
          <a:xfrm>
            <a:off x="968549" y="3024287"/>
            <a:ext cx="3180179" cy="538559"/>
          </a:xfrm>
          <a:prstGeom prst="roundRect">
            <a:avLst>
              <a:gd name="adj" fmla="val 6429"/>
            </a:avLst>
          </a:prstGeom>
          <a:solidFill>
            <a:srgbClr val="1C1F22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59A543E-F8FB-95CC-59D2-65EE00C7CFD2}"/>
              </a:ext>
            </a:extLst>
          </p:cNvPr>
          <p:cNvSpPr/>
          <p:nvPr/>
        </p:nvSpPr>
        <p:spPr>
          <a:xfrm>
            <a:off x="1070147" y="3125887"/>
            <a:ext cx="358656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ID/EX → write back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4486DC6-21D9-9D11-B4DD-2B5CD2E14B11}"/>
              </a:ext>
            </a:extLst>
          </p:cNvPr>
          <p:cNvSpPr/>
          <p:nvPr/>
        </p:nvSpPr>
        <p:spPr>
          <a:xfrm>
            <a:off x="968549" y="3729633"/>
            <a:ext cx="1487450" cy="538559"/>
          </a:xfrm>
          <a:prstGeom prst="roundRect">
            <a:avLst>
              <a:gd name="adj" fmla="val 6429"/>
            </a:avLst>
          </a:prstGeom>
          <a:solidFill>
            <a:srgbClr val="1C1F22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41BD052-5A07-7EE0-00A6-311B0A7D05FD}"/>
              </a:ext>
            </a:extLst>
          </p:cNvPr>
          <p:cNvSpPr/>
          <p:nvPr/>
        </p:nvSpPr>
        <p:spPr>
          <a:xfrm>
            <a:off x="1070147" y="3831233"/>
            <a:ext cx="189384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LSU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9938869-8C2E-412C-435D-16A882EFA9C6}"/>
              </a:ext>
            </a:extLst>
          </p:cNvPr>
          <p:cNvSpPr/>
          <p:nvPr/>
        </p:nvSpPr>
        <p:spPr>
          <a:xfrm>
            <a:off x="2661278" y="3729633"/>
            <a:ext cx="1487450" cy="538559"/>
          </a:xfrm>
          <a:prstGeom prst="roundRect">
            <a:avLst>
              <a:gd name="adj" fmla="val 6429"/>
            </a:avLst>
          </a:prstGeom>
          <a:solidFill>
            <a:srgbClr val="1C1F22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A017B53-2758-60ED-93E6-ECAF305AD698}"/>
              </a:ext>
            </a:extLst>
          </p:cNvPr>
          <p:cNvSpPr/>
          <p:nvPr/>
        </p:nvSpPr>
        <p:spPr>
          <a:xfrm>
            <a:off x="2762875" y="3831233"/>
            <a:ext cx="189384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CSR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D991D8B-2F55-D4A5-BBCC-F8EAF050ABF6}"/>
              </a:ext>
            </a:extLst>
          </p:cNvPr>
          <p:cNvSpPr/>
          <p:nvPr/>
        </p:nvSpPr>
        <p:spPr>
          <a:xfrm>
            <a:off x="4507891" y="2601119"/>
            <a:ext cx="1179681" cy="1231007"/>
          </a:xfrm>
          <a:prstGeom prst="roundRect">
            <a:avLst>
              <a:gd name="adj" fmla="val 2935"/>
            </a:avLst>
          </a:prstGeom>
          <a:noFill/>
          <a:ln w="12700">
            <a:solidFill>
              <a:srgbClr val="4A5158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393E0A-87F7-8817-31F2-186B87905B34}"/>
              </a:ext>
            </a:extLst>
          </p:cNvPr>
          <p:cNvSpPr/>
          <p:nvPr/>
        </p:nvSpPr>
        <p:spPr>
          <a:xfrm>
            <a:off x="4622188" y="2715419"/>
            <a:ext cx="951087" cy="607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 file</a:t>
            </a:r>
            <a:endParaRPr lang="en-US" sz="11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x0 to x31</a:t>
            </a:r>
            <a:endParaRPr lang="en-US" sz="11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4136C5D-F4F5-4CE4-9DC8-40013D31DB22}"/>
              </a:ext>
            </a:extLst>
          </p:cNvPr>
          <p:cNvSpPr/>
          <p:nvPr/>
        </p:nvSpPr>
        <p:spPr>
          <a:xfrm>
            <a:off x="667229" y="4960739"/>
            <a:ext cx="5200024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Instruction · Data · Interrupt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056410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EXECUTION / MEMORY-MAPPED I/O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HOW IBEX EXECUTES AND CONNECTS TO OUR SOC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395710"/>
            <a:ext cx="1097252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Instruction path: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PC → instruction port → ROM → IF stage → decode/execute → write back. </a:t>
            </a: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Boot: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reset vector at 0x80 in ROM.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2039441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6" name="Shape 4"/>
          <p:cNvSpPr/>
          <p:nvPr/>
        </p:nvSpPr>
        <p:spPr>
          <a:xfrm>
            <a:off x="609585" y="3606502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198191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464891"/>
            <a:ext cx="2514537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9" name="Text 7"/>
          <p:cNvSpPr/>
          <p:nvPr/>
        </p:nvSpPr>
        <p:spPr>
          <a:xfrm>
            <a:off x="609585" y="2598241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Firmware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3012182"/>
            <a:ext cx="251453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 Kp,Ki &amp; Kd to the PID bank address.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8914" y="2198191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28914" y="2464891"/>
            <a:ext cx="2514537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8914" y="2598241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Load/store unit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28914" y="3012182"/>
            <a:ext cx="251453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Raise a data request.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48244" y="2198191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48244" y="2464891"/>
            <a:ext cx="2514537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7" name="Text 15"/>
          <p:cNvSpPr/>
          <p:nvPr/>
        </p:nvSpPr>
        <p:spPr>
          <a:xfrm>
            <a:off x="6248244" y="2598241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Bus decoder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48244" y="3012182"/>
            <a:ext cx="251453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the PID register bank.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067573" y="2198191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067573" y="2464891"/>
            <a:ext cx="2514537" cy="190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21" name="Text 19"/>
          <p:cNvSpPr/>
          <p:nvPr/>
        </p:nvSpPr>
        <p:spPr>
          <a:xfrm>
            <a:off x="9067573" y="2598241"/>
            <a:ext cx="251453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PID register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067573" y="3012182"/>
            <a:ext cx="2514537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 lands; hardware PID uses it on the next sample.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585" y="3777952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Handshake and cost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09585" y="4257973"/>
            <a:ext cx="5257668" cy="106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 → grant (same cycle) → response valid (next cycle).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Simple ALU ops about 1 cycle; multiply 3 cycles; memory accesses follow the handshake.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24442" y="3777952"/>
            <a:ext cx="5257668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Interrupts → Ibex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324442" y="4257973"/>
            <a:ext cx="5257668" cy="1065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Timer interrupt (about every 100 ms) and fault interrupt wired to Ibex's interrupt inputs.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core jumps through the vector table at the base address.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089498" y="3777952"/>
            <a:ext cx="12700" cy="2470448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FIRMWARE / BRING-UP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FIRMWARE AND BOOT SEQUENCE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448991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5176" y="1433810"/>
            <a:ext cx="602470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Reset vector, startup code: set stack, copy initialised data, clear zeroed data.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585" y="2321818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5176" y="2306638"/>
            <a:ext cx="602470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main(): read all six bank IDs; compare with expected values.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585" y="2973685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5176" y="2958505"/>
            <a:ext cx="602470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Configure timer and I²C; wait for sensor init.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585" y="3625552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5176" y="3610372"/>
            <a:ext cx="602470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 gyro calibration; wait for done.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5" y="427742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5176" y="4262239"/>
            <a:ext cx="602470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Load Kp / Ki / Kd, setpoint, limits. Output limit starts low.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4929287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5176" y="4914106"/>
            <a:ext cx="602470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 safety thresholds, enable watchdog, arm.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585" y="5581154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07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5176" y="5565973"/>
            <a:ext cx="602470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Loop: kick watchdog, log telemetry, handle interrupts, apply the re-arm policy after a fault.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21674" y="1395710"/>
            <a:ext cx="416043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Build flow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21674" y="1875730"/>
            <a:ext cx="4160436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RISC-V GCC (rv32imc) → binary → ROM initialisation file → loaded into the FPGA.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21674" y="4153098"/>
            <a:ext cx="416043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Bring-up ladder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21674" y="4563269"/>
            <a:ext cx="4160436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IDs → RAM test → LED → timer interrupt → raw IMU registers → full boot.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186730" y="1395710"/>
            <a:ext cx="12700" cy="4852690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D6D5-3C46-9997-1486-DB9381D62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12531A-7204-6438-9BC0-9C665406D598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E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3F6830A-80BA-8595-435F-DE5ED6610520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D0C300E-F84F-F9B6-D2A6-7C28A14D12F3}"/>
              </a:ext>
            </a:extLst>
          </p:cNvPr>
          <p:cNvSpPr/>
          <p:nvPr/>
        </p:nvSpPr>
        <p:spPr>
          <a:xfrm>
            <a:off x="609585" y="282632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APPLICATIONS &amp;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ARCHITECTURE SCOPE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23480162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WHERE THIS ECU CAN BE 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1981" y="1548110"/>
            <a:ext cx="51814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Self-balancing / inverted pendulum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1981" y="1962051"/>
            <a:ext cx="5181470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 target: two-wheeled balancing robots, mobility-scale prototypes, control-teaching rigs.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244" y="1548110"/>
            <a:ext cx="51814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Bipedal / legged robots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48244" y="1962051"/>
            <a:ext cx="518147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Posture and balance need the same fixed-latency sensor-to-actuator path. A building block, not a full gait controller.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1981" y="2980035"/>
            <a:ext cx="51814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Autonomous rovers / mobile robots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1981" y="3393976"/>
            <a:ext cx="5181470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Wheel-motor control, chassis stabilisation, fault-safe motor shutdown; supervisory CPU for mission logic.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48244" y="2980035"/>
            <a:ext cx="51814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Automotive / industrial control units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248244" y="3393976"/>
            <a:ext cx="5181470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Body/chassis-class and motor-control functions. Hardware loop plus supervisory CPU mirrors current ECU architectures [R13][R14].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1981" y="4411960"/>
            <a:ext cx="51814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Drones / camera gimbals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61981" y="4825901"/>
            <a:ext cx="533386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Attitude stabilisation.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48244" y="4411960"/>
            <a:ext cx="518147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Education / research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4825901"/>
            <a:ext cx="5333867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Open, inspectable reference for ECU and SoC design.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585" y="5856684"/>
            <a:ext cx="10972526" cy="391716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demonstrator is the two-wheeled balancing robot; the others describe where the architecture applies.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9498" y="1395710"/>
            <a:ext cx="12700" cy="143192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5" y="2821285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9498" y="2827635"/>
            <a:ext cx="12700" cy="143192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5848" y="2821285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5" y="4253210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9498" y="4259560"/>
            <a:ext cx="12700" cy="1431925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5848" y="4253210"/>
            <a:ext cx="5486263" cy="12700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ADAPTING THE ECU (FUTURE SCOPE)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72749" y="1149350"/>
            <a:ext cx="630936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Other sensors: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SPI IMUs, wheel encoders, distance sensors.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272749" y="1845866"/>
            <a:ext cx="630936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More control channels: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replicate the PID block, e.g. one per joint or axis.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72749" y="2781697"/>
            <a:ext cx="630936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Outer loops: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speed or position control in firmware on top of the balance loop.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272749" y="3717528"/>
            <a:ext cx="630936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Communication: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UART or CAN for commands and logging.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72749" y="4414044"/>
            <a:ext cx="630936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Better estimation: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Kalman filter block.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72749" y="5110559"/>
            <a:ext cx="630936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Other motors: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different driver stages behind the same motor interface.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585" y="5754291"/>
            <a:ext cx="10972526" cy="391716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Because everything is register-configured, many changes are firmware or small-block changes, not a redesign.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72749" y="1610916"/>
            <a:ext cx="6309361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1" name="Shape 9"/>
          <p:cNvSpPr/>
          <p:nvPr/>
        </p:nvSpPr>
        <p:spPr>
          <a:xfrm>
            <a:off x="5272749" y="2546747"/>
            <a:ext cx="6309361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2" name="Shape 10"/>
          <p:cNvSpPr/>
          <p:nvPr/>
        </p:nvSpPr>
        <p:spPr>
          <a:xfrm>
            <a:off x="5272749" y="3482578"/>
            <a:ext cx="6309361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3" name="Shape 11"/>
          <p:cNvSpPr/>
          <p:nvPr/>
        </p:nvSpPr>
        <p:spPr>
          <a:xfrm>
            <a:off x="5272749" y="4179094"/>
            <a:ext cx="6309361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4" name="Shape 12"/>
          <p:cNvSpPr/>
          <p:nvPr/>
        </p:nvSpPr>
        <p:spPr>
          <a:xfrm>
            <a:off x="5272749" y="4875609"/>
            <a:ext cx="6309361" cy="12700"/>
          </a:xfrm>
          <a:prstGeom prst="rect">
            <a:avLst/>
          </a:prstGeom>
          <a:solidFill>
            <a:srgbClr val="4A5158"/>
          </a:solidFill>
          <a:ln/>
        </p:spPr>
      </p:sp>
      <p:sp>
        <p:nvSpPr>
          <p:cNvPr id="16" name="Shape 14"/>
          <p:cNvSpPr/>
          <p:nvPr/>
        </p:nvSpPr>
        <p:spPr>
          <a:xfrm>
            <a:off x="1292986" y="2542580"/>
            <a:ext cx="2839074" cy="920055"/>
          </a:xfrm>
          <a:prstGeom prst="roundRect">
            <a:avLst>
              <a:gd name="adj" fmla="val 3857"/>
            </a:avLst>
          </a:prstGeom>
          <a:solidFill>
            <a:srgbClr val="1C1F22"/>
          </a:solidFill>
          <a:ln w="12700">
            <a:solidFill>
              <a:srgbClr val="4A5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3482" y="2733080"/>
            <a:ext cx="2458083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ECU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83482" y="3147020"/>
            <a:ext cx="3067668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Register-configured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1286" y="1254423"/>
            <a:ext cx="3522574" cy="736005"/>
          </a:xfrm>
          <a:prstGeom prst="roundRect">
            <a:avLst>
              <a:gd name="adj" fmla="val 4822"/>
            </a:avLst>
          </a:prstGeom>
          <a:noFill/>
          <a:ln w="12700">
            <a:solidFill>
              <a:srgbClr val="4A51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6381" y="1419523"/>
            <a:ext cx="369927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new block: sensors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51286" y="4014788"/>
            <a:ext cx="3522574" cy="946348"/>
          </a:xfrm>
          <a:prstGeom prst="roundRect">
            <a:avLst>
              <a:gd name="adj" fmla="val 3750"/>
            </a:avLst>
          </a:prstGeom>
          <a:noFill/>
          <a:ln w="12700">
            <a:solidFill>
              <a:srgbClr val="4A51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6381" y="4179888"/>
            <a:ext cx="3192383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 new block: PID channels / Kalman filter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B12CF-185F-A0D4-7E91-54586F3D6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825CE3-DF8E-E467-D88B-5D6071E73BD4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F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F8FE0B7-932E-AD6C-BDD9-B30AB5B09419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83743E9-3646-E2C5-48E4-3C510C415A13}"/>
              </a:ext>
            </a:extLst>
          </p:cNvPr>
          <p:cNvSpPr/>
          <p:nvPr/>
        </p:nvSpPr>
        <p:spPr>
          <a:xfrm>
            <a:off x="609585" y="282632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HARDWARE 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&amp; TOOLS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9203143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288BBE1A-1E1B-5689-E6EB-15385F8B9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42" y="647181"/>
            <a:ext cx="11486220" cy="5563637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HARDWARE / STAGED BRING-UP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5596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HARDWARE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47538" y="5716328"/>
            <a:ext cx="5351377" cy="98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MPU-6050 breakout on I²C: SCL/SDA, 3.3 V, via a Pmod/header.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Two BTS7960 modules receive PWM and enable from the FPGA; each drives one DC motor.</a:t>
            </a:r>
            <a:endParaRPr 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EE60190-0CD3-D828-DDD9-DBFFB3D1BA74}"/>
              </a:ext>
            </a:extLst>
          </p:cNvPr>
          <p:cNvSpPr txBox="1"/>
          <p:nvPr/>
        </p:nvSpPr>
        <p:spPr>
          <a:xfrm>
            <a:off x="6595642" y="5821554"/>
            <a:ext cx="6094070" cy="62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Separate motor battery; common ground with logic.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Switches/LEDs: arm switch, E-stop button, status LEDs.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HARDWARE SPECIFICATIONS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49350"/>
          <a:ext cx="10997827" cy="3514637"/>
        </p:xfrm>
        <a:graphic>
          <a:graphicData uri="http://schemas.openxmlformats.org/drawingml/2006/table">
            <a:tbl>
              <a:tblPr/>
              <a:tblGrid>
                <a:gridCol w="2693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4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ITEM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KEY SPECIFICATIONS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67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Arty A7-100T (Digilent) [R15]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Xilinx XC7A100T-1CSG324: 101,440 logic cells, 15,850 slices, 4,860 Kb block RAM, 240 DSP slices, 4 Pmod connectors + Arduino-style header, 256 MB DDR3L, 16 MB Quad-SPI flash, USB-JTAG, powered from USB or 7 to 15 V, supported by Vivado WebPACK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MPU-6050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3-axis accelerometer + 3-axis gyroscope, 16-bit ADCs, I²C up to 400 kHz, programmable ranges (we use ±2 g, ±250 °/s), on-chip digital low-pass filter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BTS7960 module ×2 [R9]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PWM up to 25 kHz, 5.5 to 27.5 V, about 43 A typical current limit, integrated protections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Motors, chassis, battery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two DC geared motors on a two-wheeled chassis; ratings to be finalised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265638"/>
            <a:ext cx="10972526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Our design is small relative to the device; actual utilisation will be reported after implementation. Other boards can be used: only pin constraints and the clock source change.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SOFTWARE AND EDA TOOLS</a:t>
            </a:r>
            <a:endParaRPr lang="en-US" sz="2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ACROSS THE WHOLE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2272010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8E9E70"/>
          </a:solidFill>
          <a:ln/>
        </p:spPr>
      </p:sp>
      <p:sp>
        <p:nvSpPr>
          <p:cNvPr id="4" name="Shape 2"/>
          <p:cNvSpPr/>
          <p:nvPr/>
        </p:nvSpPr>
        <p:spPr>
          <a:xfrm>
            <a:off x="2077688" y="189101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8E9E70"/>
          </a:solidFill>
          <a:ln/>
        </p:spPr>
      </p:sp>
      <p:sp>
        <p:nvSpPr>
          <p:cNvPr id="5" name="Shape 3"/>
          <p:cNvSpPr/>
          <p:nvPr/>
        </p:nvSpPr>
        <p:spPr>
          <a:xfrm>
            <a:off x="2020539" y="2200573"/>
            <a:ext cx="142871" cy="142875"/>
          </a:xfrm>
          <a:prstGeom prst="ellipse">
            <a:avLst/>
          </a:prstGeom>
          <a:solidFill>
            <a:srgbClr val="A8B88A"/>
          </a:solidFill>
          <a:ln/>
        </p:spPr>
      </p:sp>
      <p:sp>
        <p:nvSpPr>
          <p:cNvPr id="6" name="Text 4"/>
          <p:cNvSpPr/>
          <p:nvPr/>
        </p:nvSpPr>
        <p:spPr>
          <a:xfrm>
            <a:off x="800030" y="1485900"/>
            <a:ext cx="25838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PYTHON 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79237" y="227201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8E9E70"/>
          </a:solidFill>
          <a:ln/>
        </p:spPr>
      </p:sp>
      <p:sp>
        <p:nvSpPr>
          <p:cNvPr id="8" name="Shape 6"/>
          <p:cNvSpPr/>
          <p:nvPr/>
        </p:nvSpPr>
        <p:spPr>
          <a:xfrm>
            <a:off x="3622088" y="2200573"/>
            <a:ext cx="142871" cy="142875"/>
          </a:xfrm>
          <a:prstGeom prst="ellipse">
            <a:avLst/>
          </a:prstGeom>
          <a:solidFill>
            <a:srgbClr val="A8B88A"/>
          </a:solidFill>
          <a:ln/>
        </p:spPr>
      </p:sp>
      <p:sp>
        <p:nvSpPr>
          <p:cNvPr id="9" name="Text 7"/>
          <p:cNvSpPr/>
          <p:nvPr/>
        </p:nvSpPr>
        <p:spPr>
          <a:xfrm>
            <a:off x="2401530" y="2843510"/>
            <a:ext cx="258398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VIVADO SIM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80687" y="189101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8E9E70"/>
          </a:solidFill>
          <a:ln/>
        </p:spPr>
      </p:sp>
      <p:sp>
        <p:nvSpPr>
          <p:cNvPr id="11" name="Shape 9"/>
          <p:cNvSpPr/>
          <p:nvPr/>
        </p:nvSpPr>
        <p:spPr>
          <a:xfrm>
            <a:off x="5223538" y="2200573"/>
            <a:ext cx="142871" cy="142875"/>
          </a:xfrm>
          <a:prstGeom prst="ellipse">
            <a:avLst/>
          </a:prstGeom>
          <a:solidFill>
            <a:srgbClr val="A8B88A"/>
          </a:solidFill>
          <a:ln/>
        </p:spPr>
      </p:sp>
      <p:sp>
        <p:nvSpPr>
          <p:cNvPr id="12" name="Text 10"/>
          <p:cNvSpPr/>
          <p:nvPr/>
        </p:nvSpPr>
        <p:spPr>
          <a:xfrm>
            <a:off x="4003029" y="1485900"/>
            <a:ext cx="25838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VIVADO FPGA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82236" y="227201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8E9E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825087" y="2200573"/>
            <a:ext cx="142871" cy="142875"/>
          </a:xfrm>
          <a:prstGeom prst="ellipse">
            <a:avLst/>
          </a:prstGeom>
          <a:solidFill>
            <a:srgbClr val="A8B88A"/>
          </a:solidFill>
          <a:ln/>
        </p:spPr>
      </p:sp>
      <p:sp>
        <p:nvSpPr>
          <p:cNvPr id="15" name="Text 13"/>
          <p:cNvSpPr/>
          <p:nvPr/>
        </p:nvSpPr>
        <p:spPr>
          <a:xfrm>
            <a:off x="5604578" y="2843510"/>
            <a:ext cx="25838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GENUS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83785" y="189101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8E9E70"/>
          </a:solidFill>
          <a:ln/>
        </p:spPr>
      </p:sp>
      <p:sp>
        <p:nvSpPr>
          <p:cNvPr id="17" name="Shape 15"/>
          <p:cNvSpPr/>
          <p:nvPr/>
        </p:nvSpPr>
        <p:spPr>
          <a:xfrm>
            <a:off x="8426636" y="2200573"/>
            <a:ext cx="142871" cy="142875"/>
          </a:xfrm>
          <a:prstGeom prst="ellipse">
            <a:avLst/>
          </a:prstGeom>
          <a:solidFill>
            <a:srgbClr val="A8B88A"/>
          </a:solidFill>
          <a:ln/>
        </p:spPr>
      </p:sp>
      <p:sp>
        <p:nvSpPr>
          <p:cNvPr id="18" name="Text 16"/>
          <p:cNvSpPr/>
          <p:nvPr/>
        </p:nvSpPr>
        <p:spPr>
          <a:xfrm>
            <a:off x="7206078" y="1485900"/>
            <a:ext cx="258398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INNOVUS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85234" y="2272010"/>
            <a:ext cx="28574" cy="381000"/>
          </a:xfrm>
          <a:prstGeom prst="roundRect">
            <a:avLst>
              <a:gd name="adj" fmla="val 40000"/>
            </a:avLst>
          </a:prstGeom>
          <a:solidFill>
            <a:srgbClr val="8E9E7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28086" y="2200573"/>
            <a:ext cx="142871" cy="142875"/>
          </a:xfrm>
          <a:prstGeom prst="ellipse">
            <a:avLst/>
          </a:prstGeom>
          <a:solidFill>
            <a:srgbClr val="A8B88A"/>
          </a:solidFill>
          <a:ln/>
        </p:spPr>
      </p:sp>
      <p:sp>
        <p:nvSpPr>
          <p:cNvPr id="21" name="Text 19"/>
          <p:cNvSpPr/>
          <p:nvPr/>
        </p:nvSpPr>
        <p:spPr>
          <a:xfrm>
            <a:off x="8807577" y="2843510"/>
            <a:ext cx="258388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GDSII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223220"/>
          <a:ext cx="10972525" cy="3014472"/>
        </p:xfrm>
        <a:graphic>
          <a:graphicData uri="http://schemas.openxmlformats.org/drawingml/2006/table">
            <a:tbl>
              <a:tblPr/>
              <a:tblGrid>
                <a:gridCol w="5157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25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STAGE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TOOL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RTL entry, simulation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Xilinx Vivado (xsim)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FPGA synthesis, implementation, bitstream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Vivado (Artix-7)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On-chip debug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Vivado ILA / VIO, logic analyser, oscilloscope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Clock generation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Vivado Clocking Wizard (MMCM)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Reference models, plots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Python (golden models, matplotlib)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Firmware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RISC-V GNU toolchain (rv32imc), Make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Code quality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Verilator lint, Git/GitHub with pull-request reviews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Logic synthesis (RTL to gates)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Cadence Genus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Place and route (gates to layout)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Cadence Innovus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Further checks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other Cadence tools as available in the lab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36576" marB="3657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73DEE-B454-F062-DD33-FA8120309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637F0A-978D-5C68-C5FF-B97664975292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G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79A3F4-1B0C-0DCB-ABF5-DC8F8A31675C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CCE83F-A223-2A51-F364-9478E285119B}"/>
              </a:ext>
            </a:extLst>
          </p:cNvPr>
          <p:cNvSpPr/>
          <p:nvPr/>
        </p:nvSpPr>
        <p:spPr>
          <a:xfrm>
            <a:off x="609585" y="282632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PLAN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VERIFICATION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WRAP UP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31855070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25613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kern="100" spc="216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DEVELOPMENT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2366963"/>
            <a:ext cx="10972526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 the block against the frozen interface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Simulate and verify it alone (self-checking testbench + golden model)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FPGA-test it alone, typical and extreme conditions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Combine blocks one by one: simulate each combination, then FPGA-test it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ECU: simulate, verify, FPGA test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Only then move to RTL-to-GDSII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4427538"/>
            <a:ext cx="10972526" cy="704850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Rule: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nothing moves to the next stage until it has passed the current one. The CPU track runs alongside through all stages, until it is stable.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VERIFICATION STRATEGY: SIMULATION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779" y="1130300"/>
            <a:ext cx="1357675" cy="5956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8675" y="1354832"/>
            <a:ext cx="26788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kern="100" spc="112" dirty="0">
                <a:solidFill>
                  <a:srgbClr val="000000"/>
                </a:solidFill>
                <a:latin typeface="JetBrains Mono SemiBold" pitchFamily="34" charset="0"/>
                <a:cs typeface="JetBrains Mono SemiBold" pitchFamily="34" charset="-120"/>
              </a:rPr>
              <a:t>4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4222049" y="1320800"/>
            <a:ext cx="716956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LEVEL 4 · WITH CPU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079178" y="1737816"/>
            <a:ext cx="7455309" cy="14288"/>
          </a:xfrm>
          <a:prstGeom prst="roundRect">
            <a:avLst>
              <a:gd name="adj" fmla="val 49997"/>
            </a:avLst>
          </a:prstGeom>
          <a:solidFill>
            <a:srgbClr val="A8B88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4842" y="1773535"/>
            <a:ext cx="2715549" cy="5956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18675" y="1937345"/>
            <a:ext cx="26788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kern="100" spc="112" dirty="0">
                <a:solidFill>
                  <a:srgbClr val="000000"/>
                </a:solidFill>
                <a:latin typeface="JetBrains Mono SemiBold" pitchFamily="34" charset="0"/>
                <a:cs typeface="JetBrains Mono SemiBold" pitchFamily="34" charset="-120"/>
              </a:rPr>
              <a:t>3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4900986" y="1964035"/>
            <a:ext cx="649062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LEVEL 3 · FULL DATAPATH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58115" y="2381052"/>
            <a:ext cx="6776372" cy="14288"/>
          </a:xfrm>
          <a:prstGeom prst="roundRect">
            <a:avLst>
              <a:gd name="adj" fmla="val 49997"/>
            </a:avLst>
          </a:prstGeom>
          <a:solidFill>
            <a:srgbClr val="A8B88A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5905" y="2416770"/>
            <a:ext cx="4073423" cy="5956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18675" y="2580580"/>
            <a:ext cx="26788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kern="100" spc="112" dirty="0">
                <a:solidFill>
                  <a:srgbClr val="000000"/>
                </a:solidFill>
                <a:latin typeface="JetBrains Mono SemiBold" pitchFamily="34" charset="0"/>
                <a:cs typeface="JetBrains Mono Semi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5579923" y="2607270"/>
            <a:ext cx="581169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LEVEL 2 · PAIRS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37051" y="3024287"/>
            <a:ext cx="6097435" cy="14288"/>
          </a:xfrm>
          <a:prstGeom prst="roundRect">
            <a:avLst>
              <a:gd name="adj" fmla="val 49997"/>
            </a:avLst>
          </a:prstGeom>
          <a:solidFill>
            <a:srgbClr val="A8B88A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68" y="3060005"/>
            <a:ext cx="5431297" cy="5956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218675" y="3223816"/>
            <a:ext cx="267884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kern="100" spc="112" dirty="0">
                <a:solidFill>
                  <a:srgbClr val="000000"/>
                </a:solidFill>
                <a:latin typeface="JetBrains Mono SemiBold" pitchFamily="34" charset="0"/>
                <a:cs typeface="JetBrains Mono SemiBold" pitchFamily="34" charset="-120"/>
              </a:rPr>
              <a:t>1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6258860" y="3250505"/>
            <a:ext cx="5132755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7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LEVEL 1 · BLOCK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09585" y="3820716"/>
            <a:ext cx="5257668" cy="213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Level 1, block: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self-checking testbench per block; directed and random vectors; compare with a Python model.</a:t>
            </a:r>
            <a:endParaRPr lang="en-US" sz="13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Level 2, pairs: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adjacent blocks connected: I²C to pipeline; pipeline to PID; PID to PWM.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Level 3, full datapath: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MPU-6050 behavioural model, whole chain, PWM, with a simple pendulum model closing the loop.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24442" y="3820716"/>
            <a:ext cx="5257668" cy="213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Level 4, with CPU: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Ibex running real firmware through the real bus.</a:t>
            </a:r>
            <a:endParaRPr lang="en-US" sz="13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Checks built in: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assertions (e.g. never both PWM outputs high), reset behaviour, boundary values, saturation, injected errors (NACK, timeout, bad address).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Hygiene: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lint with zero unexplained warnings; regression script; results logged per block.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FPGA TEST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377950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STAGES A TO 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1659235"/>
            <a:ext cx="5181470" cy="1999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Stage A: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each block alone on the board using test fixtures and ILA/VIO.</a:t>
            </a:r>
            <a:endParaRPr lang="en-US" sz="13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Stage B: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blocks combined one by one: I²C + pipeline, + PID, + PWM, + safety.</a:t>
            </a:r>
            <a:endParaRPr lang="en-US" sz="130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Stage C: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full hardware loop (no CPU) with the robot on a stand.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Stage D: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full ECU with CPU and firmware.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585" y="5780484"/>
            <a:ext cx="548626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Typical operation: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normal tilt, normal gains.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640" y="1377950"/>
            <a:ext cx="518147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EXTREME CASES, SAFETY AND FAULTS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640" y="1659235"/>
            <a:ext cx="5181470" cy="1783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Extreme cases: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maximum and minimum inputs, saturation, noisy readings, different I²C speeds, back-to-back events, reset during operation, power-up sequence, long-run soak.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Safety and faults: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every fault alone and combined, glitch rejection, E-stop, watchdog, re-arm sequence, unplugging the sensor.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640" y="5388769"/>
            <a:ext cx="5181470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Pass criteria and logs defined per test so nothing stays half-tested.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9498" y="1149350"/>
            <a:ext cx="12700" cy="5099050"/>
          </a:xfrm>
          <a:prstGeom prst="rect">
            <a:avLst/>
          </a:prstGeom>
          <a:solidFill>
            <a:srgbClr val="4A5158"/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RTL-TO-GDSII FLOW (CADENCE)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149350"/>
            <a:ext cx="1828754" cy="762000"/>
          </a:xfrm>
          <a:prstGeom prst="rect">
            <a:avLst/>
          </a:prstGeom>
          <a:solidFill>
            <a:srgbClr val="4A4C4F"/>
          </a:solidFill>
          <a:ln/>
        </p:spPr>
      </p:sp>
      <p:sp>
        <p:nvSpPr>
          <p:cNvPr id="4" name="Shape 2"/>
          <p:cNvSpPr/>
          <p:nvPr/>
        </p:nvSpPr>
        <p:spPr>
          <a:xfrm>
            <a:off x="621491" y="1161256"/>
            <a:ext cx="1804942" cy="738188"/>
          </a:xfrm>
          <a:prstGeom prst="rect">
            <a:avLst/>
          </a:prstGeom>
          <a:solidFill>
            <a:srgbClr val="222427"/>
          </a:solidFill>
          <a:ln/>
        </p:spPr>
      </p:sp>
      <p:sp>
        <p:nvSpPr>
          <p:cNvPr id="5" name="Text 3"/>
          <p:cNvSpPr/>
          <p:nvPr/>
        </p:nvSpPr>
        <p:spPr>
          <a:xfrm>
            <a:off x="1352516" y="1392238"/>
            <a:ext cx="95247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1182" y="1984375"/>
            <a:ext cx="172715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Freeze + lint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38339" y="1149350"/>
            <a:ext cx="1828754" cy="762000"/>
          </a:xfrm>
          <a:prstGeom prst="rect">
            <a:avLst/>
          </a:prstGeom>
          <a:solidFill>
            <a:srgbClr val="4A4C4F"/>
          </a:solidFill>
          <a:ln/>
        </p:spPr>
      </p:sp>
      <p:sp>
        <p:nvSpPr>
          <p:cNvPr id="8" name="Shape 6"/>
          <p:cNvSpPr/>
          <p:nvPr/>
        </p:nvSpPr>
        <p:spPr>
          <a:xfrm>
            <a:off x="2450245" y="1161256"/>
            <a:ext cx="1804942" cy="738188"/>
          </a:xfrm>
          <a:prstGeom prst="rect">
            <a:avLst/>
          </a:prstGeom>
          <a:solidFill>
            <a:srgbClr val="222427"/>
          </a:solidFill>
          <a:ln/>
        </p:spPr>
      </p:sp>
      <p:sp>
        <p:nvSpPr>
          <p:cNvPr id="9" name="Text 7"/>
          <p:cNvSpPr/>
          <p:nvPr/>
        </p:nvSpPr>
        <p:spPr>
          <a:xfrm>
            <a:off x="3066973" y="1392238"/>
            <a:ext cx="11810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39936" y="1984375"/>
            <a:ext cx="172715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67093" y="1149350"/>
            <a:ext cx="1828754" cy="762000"/>
          </a:xfrm>
          <a:prstGeom prst="rect">
            <a:avLst/>
          </a:prstGeom>
          <a:solidFill>
            <a:srgbClr val="4A4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8999" y="1161256"/>
            <a:ext cx="1804942" cy="738188"/>
          </a:xfrm>
          <a:prstGeom prst="rect">
            <a:avLst/>
          </a:prstGeom>
          <a:solidFill>
            <a:srgbClr val="222427"/>
          </a:solidFill>
          <a:ln/>
        </p:spPr>
      </p:sp>
      <p:sp>
        <p:nvSpPr>
          <p:cNvPr id="13" name="Text 11"/>
          <p:cNvSpPr/>
          <p:nvPr/>
        </p:nvSpPr>
        <p:spPr>
          <a:xfrm>
            <a:off x="4781430" y="1392238"/>
            <a:ext cx="13144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Netlist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68691" y="1984375"/>
            <a:ext cx="172715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5848" y="1149350"/>
            <a:ext cx="1828754" cy="762000"/>
          </a:xfrm>
          <a:prstGeom prst="rect">
            <a:avLst/>
          </a:prstGeom>
          <a:solidFill>
            <a:srgbClr val="4A4C4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07753" y="1161256"/>
            <a:ext cx="1804942" cy="738188"/>
          </a:xfrm>
          <a:prstGeom prst="rect">
            <a:avLst/>
          </a:prstGeom>
          <a:solidFill>
            <a:srgbClr val="2224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0185" y="1392238"/>
            <a:ext cx="131441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Innovus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7445" y="1984375"/>
            <a:ext cx="172715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24602" y="1149350"/>
            <a:ext cx="1828754" cy="762000"/>
          </a:xfrm>
          <a:prstGeom prst="rect">
            <a:avLst/>
          </a:prstGeom>
          <a:solidFill>
            <a:srgbClr val="4A4C4F"/>
          </a:solidFill>
          <a:ln/>
        </p:spPr>
      </p:sp>
      <p:sp>
        <p:nvSpPr>
          <p:cNvPr id="20" name="Shape 18"/>
          <p:cNvSpPr/>
          <p:nvPr/>
        </p:nvSpPr>
        <p:spPr>
          <a:xfrm>
            <a:off x="7936508" y="1161256"/>
            <a:ext cx="1804942" cy="738188"/>
          </a:xfrm>
          <a:prstGeom prst="rect">
            <a:avLst/>
          </a:prstGeom>
          <a:solidFill>
            <a:srgbClr val="222427"/>
          </a:solidFill>
          <a:ln/>
        </p:spPr>
      </p:sp>
      <p:sp>
        <p:nvSpPr>
          <p:cNvPr id="21" name="Text 19"/>
          <p:cNvSpPr/>
          <p:nvPr/>
        </p:nvSpPr>
        <p:spPr>
          <a:xfrm>
            <a:off x="8496087" y="1392238"/>
            <a:ext cx="125726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26199" y="1984375"/>
            <a:ext cx="172715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753356" y="1149350"/>
            <a:ext cx="1828754" cy="762000"/>
          </a:xfrm>
          <a:prstGeom prst="rect">
            <a:avLst/>
          </a:prstGeom>
          <a:solidFill>
            <a:srgbClr val="4A4C4F"/>
          </a:solidFill>
          <a:ln/>
        </p:spPr>
      </p:sp>
      <p:sp>
        <p:nvSpPr>
          <p:cNvPr id="24" name="Shape 22"/>
          <p:cNvSpPr/>
          <p:nvPr/>
        </p:nvSpPr>
        <p:spPr>
          <a:xfrm>
            <a:off x="9765262" y="1161256"/>
            <a:ext cx="1804942" cy="738188"/>
          </a:xfrm>
          <a:prstGeom prst="rect">
            <a:avLst/>
          </a:prstGeom>
          <a:solidFill>
            <a:srgbClr val="222427"/>
          </a:solidFill>
          <a:ln/>
        </p:spPr>
      </p:sp>
      <p:sp>
        <p:nvSpPr>
          <p:cNvPr id="25" name="Text 23"/>
          <p:cNvSpPr/>
          <p:nvPr/>
        </p:nvSpPr>
        <p:spPr>
          <a:xfrm>
            <a:off x="10381990" y="1392238"/>
            <a:ext cx="11810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GDSII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54953" y="1984375"/>
            <a:ext cx="1727157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9585" y="2490391"/>
            <a:ext cx="10972526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RTL freeze, lint, constraint definition (clock, input/output timing)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Logic synthesis, Genus: RTL to gate-level netlist; area and timing reports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Gate-level simulation of the netlist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Innovus: floorplan, placement, clock-tree synthesis, routing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 timing and power analysis; layout design-rule and connectivity checks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 the GDSII layout and reports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9585" y="5212953"/>
            <a:ext cx="10972526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Prepared from day one: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single clock, fully synchronous design, no latches (except an evaluated register-file option), no FPGA primitives inside the RTL, parameterised memories.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9585" y="6009084"/>
            <a:ext cx="1158211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Decisions deferred to this phase: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memory implementation, target frequency, constraint tuning.</a:t>
            </a:r>
            <a:endParaRPr lang="en-US" sz="13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5545-72D2-E13B-FB0C-4FA24962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3934691-BBC3-5478-E34C-3CBB1A374A6C}"/>
              </a:ext>
            </a:extLst>
          </p:cNvPr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PART H</a:t>
            </a:r>
            <a:endParaRPr lang="en-US" sz="10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723F87-CDC1-B7B8-4CB5-A75A9277F274}"/>
              </a:ext>
            </a:extLst>
          </p:cNvPr>
          <p:cNvSpPr/>
          <p:nvPr/>
        </p:nvSpPr>
        <p:spPr>
          <a:xfrm>
            <a:off x="609585" y="994073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4A5158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9C5B0C-4E89-A6B6-627D-7874FDE21D24}"/>
              </a:ext>
            </a:extLst>
          </p:cNvPr>
          <p:cNvSpPr/>
          <p:nvPr/>
        </p:nvSpPr>
        <p:spPr>
          <a:xfrm>
            <a:off x="609585" y="2826320"/>
            <a:ext cx="10972526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TIMELINE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RESPONSIBILITIES</a:t>
            </a:r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cs typeface="JetBrains Mono Bold" pitchFamily="34" charset="-120"/>
              </a:rPr>
              <a:t>BREAKDOWN</a:t>
            </a:r>
            <a:endParaRPr lang="en-US" sz="6200" dirty="0"/>
          </a:p>
        </p:txBody>
      </p:sp>
    </p:spTree>
    <p:extLst>
      <p:ext uri="{BB962C8B-B14F-4D97-AF65-F5344CB8AC3E}">
        <p14:creationId xmlns:p14="http://schemas.microsoft.com/office/powerpoint/2010/main" val="1899155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TIMELINE</a:t>
            </a:r>
            <a:endParaRPr lang="en-US" sz="28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(TENTATIVE AND FLEXIBLE)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504950"/>
            <a:ext cx="1158211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Each phase starts only when the previous gate is met; dates will move if results demand it.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909366"/>
          <a:ext cx="10997827" cy="3844034"/>
        </p:xfrm>
        <a:graphic>
          <a:graphicData uri="http://schemas.openxmlformats.org/drawingml/2006/table">
            <a:tbl>
              <a:tblPr/>
              <a:tblGrid>
                <a:gridCol w="2477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9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5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1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PHASE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PERIOD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WHAT HAPPENS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8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1. RTL + simulation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Oct to Nov 2026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each block coded and verified alone; then combined one by one and simulated together; real-time datapath RTL ready by end of November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CPU track (parallel)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throughout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Ibex integration, bus and firmware worked on side by side until stable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8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2. FPGA testing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Nov 2026 to end Jan / early Feb 2027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blocks alone, combined, full ECU, including safety and fault cases (lighter work during the December exam period)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 RTL-to-GDSII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Feb to May 2027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Genus synthesis, Innovus layout, final checks; target: done by May 2027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5856684"/>
            <a:ext cx="10972526" cy="391716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Gates: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RTL ready, FPGA validated, layout done.</a:t>
            </a:r>
            <a:endParaRPr lang="en-US" sz="13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TEAM AND RESPONSIBILITIES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72115"/>
              </p:ext>
            </p:extLst>
          </p:nvPr>
        </p:nvGraphicFramePr>
        <p:xfrm>
          <a:off x="609585" y="1149350"/>
          <a:ext cx="10972525" cy="4057550"/>
        </p:xfrm>
        <a:graphic>
          <a:graphicData uri="http://schemas.openxmlformats.org/drawingml/2006/table">
            <a:tbl>
              <a:tblPr/>
              <a:tblGrid>
                <a:gridCol w="2084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87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MEMBER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RESPONSIBILITY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Jatin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system architecture and integration lead; hardware PID accelerator; Ibex integration and firmware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Kaushal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I²C subsystem and MPU-6050 controller; CPU simulation harness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Dipiksha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timer / control scheduler; measurement, calibration, angle conversion, filter, error calculation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Vedam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ROM/RAM, bus interconnect, clock &amp; reset, safety and fault monitor, firmware-to-ROM flow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4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Jaydev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PWM generator, motor interface, FPGA board wrapper, motor bring-up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52396" marB="1523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617369"/>
            <a:ext cx="10972526" cy="631031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b="1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Working method:</a:t>
            </a: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shared interface contract, parallel block development, Git pull-request reviews, weekly checkpoints.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RISKS AND MITIGATION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49350"/>
          <a:ext cx="10972525" cy="4584981"/>
        </p:xfrm>
        <a:graphic>
          <a:graphicData uri="http://schemas.openxmlformats.org/drawingml/2006/table">
            <a:tbl>
              <a:tblPr/>
              <a:tblGrid>
                <a:gridCol w="3950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RISK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MITIGATION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Schedule slips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gate-based plan; essentials first; optional features (complementary filter) deferrable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8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CPU integration takes longer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Ibex is a proven core with a reference system; the hardware loop runs and is tested without it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8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Sensor noise / lag hurts balancing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selectable filter lengths, tuning registers, option of complementary filter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Tuning difficulty on the robot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tune on a stand with low output limits; log every run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Bugs in safety logic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independent monitor, exhaustive fault tests, peer review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Interface mismatches between blocks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frozen interface contract and pair-integration tests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81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Memory/area concerns in the layout flow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small memories, decisions deferred and documented</a:t>
                      </a:r>
                      <a:endParaRPr lang="en-US" sz="13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01598" marB="101598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EXPECTED OUTCOMES AND 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3030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kern="100" spc="126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EXPECTED OUTCOMES (TARGETS)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585" y="1581150"/>
            <a:ext cx="10972526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verified, documented library of ECU blocks and a complete SoC design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 FPGA demonstration of the hardware control loop on a two-wheeled robot, with measured loop timing, latency and fault-response numbers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Layout-flow results and reports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documentation others can learn from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333750"/>
            <a:ext cx="1097252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100" kern="100" spc="126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CONCLUSION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09585" y="3784600"/>
            <a:ext cx="3454314" cy="2463800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7" name="Shape 5"/>
          <p:cNvSpPr/>
          <p:nvPr/>
        </p:nvSpPr>
        <p:spPr>
          <a:xfrm>
            <a:off x="609585" y="3784600"/>
            <a:ext cx="3454314" cy="63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8" name="Text 6"/>
          <p:cNvSpPr/>
          <p:nvPr/>
        </p:nvSpPr>
        <p:spPr>
          <a:xfrm>
            <a:off x="812780" y="3994150"/>
            <a:ext cx="3047924" cy="1196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Balance control is a hardware pipeline; a small RISC-V CPU configures and supervises; safety is independent of software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8691" y="3784600"/>
            <a:ext cx="3454314" cy="2463800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10" name="Shape 8"/>
          <p:cNvSpPr/>
          <p:nvPr/>
        </p:nvSpPr>
        <p:spPr>
          <a:xfrm>
            <a:off x="4368691" y="3784600"/>
            <a:ext cx="3454314" cy="63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1886" y="3994150"/>
            <a:ext cx="3047924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Ibex "small" gives an open, compact and well-documented supervisor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3784600"/>
            <a:ext cx="3454314" cy="2463800"/>
          </a:xfrm>
          <a:prstGeom prst="rect">
            <a:avLst/>
          </a:prstGeom>
          <a:solidFill>
            <a:srgbClr val="1C1F22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7797" y="3784600"/>
            <a:ext cx="3454314" cy="6350"/>
          </a:xfrm>
          <a:prstGeom prst="rect">
            <a:avLst/>
          </a:prstGeom>
          <a:solidFill>
            <a:srgbClr val="B6E35A"/>
          </a:solidFill>
          <a:ln/>
        </p:spPr>
      </p:sp>
      <p:sp>
        <p:nvSpPr>
          <p:cNvPr id="14" name="Text 12"/>
          <p:cNvSpPr/>
          <p:nvPr/>
        </p:nvSpPr>
        <p:spPr>
          <a:xfrm>
            <a:off x="8330992" y="3994150"/>
            <a:ext cx="3047924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Verification is staged (block, combination, full ECU) in simulation and on FPGA before any layout work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594" y="152400"/>
            <a:ext cx="1173450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594" y="692150"/>
            <a:ext cx="5714857" cy="580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[R1] J. Ordóñez Cerezo, Control System in Open-Source FPGA for a Self-Balancing Robot, Electronics 8(2):198, 2019 (earlier thesis: gsyc.urjc.es, 2018)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[R2] Experimental Design and Performance Analysis of a Self-Balancing Robot Using PID Control, ICM³ 2026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[R3] R. Langley, Development of a Self-Balancing Robot Utilizing FPGA, Murdoch University honours thesis, 2016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[R4] I. Abdel-Hady et al., PID Controller Design and Implementation for Multibody Mechatronic Systems, Benha Journal of Applied Sciences 10(4), 2025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[R5] Undip final project: PID with fuzzy tuning, ATMega16 + MPU-6050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[R6] A Survey of FPGA-Based Robotic Computing, IEEE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[R7] Towards a RISC-V Open Platform for Next-generation Automotive ECUs, arxiv.org/abs/2307.04148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48244" y="692150"/>
            <a:ext cx="5714857" cy="469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[R8] lowRISC Ibex: github.com/lowRISC/ibex and ibex-core.readthedocs.io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[R9] Infineon BTS7960 datasheet, Rev. 1.1 (2004)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[R10] TI C2000 control law accelerator: electronicdesign.com; TI Piccolo F2805x announcement (eepower.com)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[R11] How does RISC-V fit into automotive systems?, microcontrollertips.com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[R12] Codasip/IAR, Driving ASIL-grade innovation: motor control performance and safety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[R13] SignOff Semiconductors REV-E dual-core RISC-V controller, electronicsforu.com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[R14] Infineon, Harnesses the Power of RISC-V for Next-Generation Automotive MCU Innovation, riscv.org/blog (2024)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[R15] Digilent Arty A7-100T product page, digilent.com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270" y="2668965"/>
            <a:ext cx="10972526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THANK YOU</a:t>
            </a:r>
            <a:endParaRPr lang="en-US" sz="6200" dirty="0"/>
          </a:p>
        </p:txBody>
      </p:sp>
      <p:sp>
        <p:nvSpPr>
          <p:cNvPr id="3" name="Text 1"/>
          <p:cNvSpPr/>
          <p:nvPr/>
        </p:nvSpPr>
        <p:spPr>
          <a:xfrm>
            <a:off x="609585" y="3443784"/>
            <a:ext cx="11582110" cy="331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585" y="3876774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ECU_SOC | RISC-V BASED ECU FOR A SELF-BALANCING ROBOT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6068</Words>
  <Application>Microsoft Office PowerPoint</Application>
  <PresentationFormat>Widescreen</PresentationFormat>
  <Paragraphs>874</Paragraphs>
  <Slides>67</Slides>
  <Notes>67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JetBrains Mono Bold</vt:lpstr>
      <vt:lpstr>Arial</vt:lpstr>
      <vt:lpstr>JetBrains Mono Medium</vt:lpstr>
      <vt:lpstr>JetBrains Mono SemiBold</vt:lpstr>
      <vt:lpstr>Consolas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Conolas - de - Arts</dc:creator>
  <cp:lastModifiedBy>Conolas - de - Arts</cp:lastModifiedBy>
  <cp:revision>8</cp:revision>
  <dcterms:created xsi:type="dcterms:W3CDTF">2026-10-02T09:03:02Z</dcterms:created>
  <dcterms:modified xsi:type="dcterms:W3CDTF">2026-10-04T19:12:17Z</dcterms:modified>
</cp:coreProperties>
</file>